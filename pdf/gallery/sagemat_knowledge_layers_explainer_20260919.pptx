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4"/>
  </p:notesMasterIdLst>
  <p:sldIdLst>
    <p:sldId id="283" r:id="rId24"/>
    <p:sldId id="284" r:id="rId25"/>
    <p:sldId id="285" r:id="rId26"/>
    <p:sldId id="286" r:id="rId27"/>
  </p:sldIdLst>
  <p:sldSz cx="12192000" cy="6858000"/>
  <p:notesSz cx="6858000" cy="9144000"/>
  <p:embeddedFontLst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8" userDrawn="1">
          <p15:clr>
            <a:srgbClr val="A4A3A4"/>
          </p15:clr>
        </p15:guide>
        <p15:guide id="2" pos="37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56C0"/>
    <a:srgbClr val="0021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941"/>
    <p:restoredTop sz="94633"/>
  </p:normalViewPr>
  <p:slideViewPr>
    <p:cSldViewPr snapToGrid="0" showGuides="1">
      <p:cViewPr>
        <p:scale>
          <a:sx n="88" d="100"/>
          <a:sy n="88" d="100"/>
        </p:scale>
        <p:origin x="1584" y="1568"/>
      </p:cViewPr>
      <p:guideLst>
        <p:guide orient="horz" pos="2158"/>
        <p:guide pos="37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Relationship Id="rId3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背景图案&#10;&#10;AI 生成的内容可能不正确。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" y="0"/>
            <a:ext cx="12191999" cy="68580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810324" y="1735486"/>
            <a:ext cx="7977415" cy="1933071"/>
          </a:xfrm>
        </p:spPr>
        <p:txBody>
          <a:bodyPr anchor="b"/>
          <a:lstStyle>
            <a:lvl1pPr algn="l">
              <a:lnSpc>
                <a:spcPct val="100000"/>
              </a:lnSpc>
              <a:defRPr sz="6000" b="0" i="0">
                <a:solidFill>
                  <a:schemeClr val="bg1"/>
                </a:solidFill>
                <a:latin typeface="OPPOSans B" pitchFamily="18" charset="-122"/>
                <a:ea typeface="OPPOSans B" pitchFamily="18" charset="-122"/>
                <a:cs typeface="OPPOSans B" pitchFamily="18" charset="-122"/>
              </a:defRPr>
            </a:lvl1pPr>
          </a:lstStyle>
          <a:p>
            <a:r>
              <a:rPr kumimoji="1" lang="zh-CN" altLang="en-US" dirty="0"/>
              <a:t>单击此处编辑母版</a:t>
            </a:r>
            <a:br>
              <a:rPr kumimoji="1" lang="en-US" altLang="zh-CN" dirty="0"/>
            </a:br>
            <a:r>
              <a:rPr kumimoji="1" lang="zh-CN" altLang="en-US" dirty="0"/>
              <a:t>标题样式</a:t>
            </a:r>
            <a:endParaRPr kumimoji="1"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810325" y="4644384"/>
            <a:ext cx="5084957" cy="412596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0" i="0">
                <a:solidFill>
                  <a:schemeClr val="bg1"/>
                </a:solidFill>
                <a:latin typeface="OPPOSans M" pitchFamily="18" charset="-122"/>
                <a:ea typeface="OPPOSans M" pitchFamily="18" charset="-122"/>
                <a:cs typeface="OPPOSans M" pitchFamily="18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 dirty="0"/>
              <a:t>单击此处编辑母版副标题样式</a:t>
            </a:r>
            <a:endParaRPr kumimoji="1" lang="zh-CN" altLang="en-US" dirty="0"/>
          </a:p>
        </p:txBody>
      </p:sp>
      <p:pic>
        <p:nvPicPr>
          <p:cNvPr id="8" name="图片 7" descr="画着卡通图案&#10;&#10;AI 生成的内容可能不正确。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70706" y="400635"/>
            <a:ext cx="2809907" cy="58752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C24D9-A620-1D4B-861E-F9AC4B108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59307-CD76-2C47-9BB5-DDF68613BC51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C24D9-A620-1D4B-861E-F9AC4B108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59307-CD76-2C47-9BB5-DDF68613BC51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bg>
      <p:bgPr>
        <a:solidFill>
          <a:srgbClr val="0021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93595" y="412157"/>
            <a:ext cx="8049321" cy="48236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3200" b="0" i="0">
                <a:solidFill>
                  <a:schemeClr val="bg1"/>
                </a:solidFill>
                <a:latin typeface="OPPOSans B" pitchFamily="18" charset="-122"/>
                <a:ea typeface="OPPOSans B" pitchFamily="18" charset="-122"/>
                <a:cs typeface="OPPOSans B" pitchFamily="18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  <a:endParaRPr kumimoji="1" lang="zh-CN" altLang="en-US" dirty="0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9273" y="492641"/>
            <a:ext cx="351358" cy="321400"/>
          </a:xfrm>
          <a:prstGeom prst="rect">
            <a:avLst/>
          </a:prstGeom>
        </p:spPr>
      </p:pic>
      <p:pic>
        <p:nvPicPr>
          <p:cNvPr id="11" name="图片 10" descr="画着卡通图案&#10;&#10;AI 生成的内容可能不正确。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9980" y="320898"/>
            <a:ext cx="1962747" cy="41039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/>
          <p:cNvSpPr>
            <a:spLocks noGrp="1"/>
          </p:cNvSpPr>
          <p:nvPr>
            <p:ph type="title"/>
          </p:nvPr>
        </p:nvSpPr>
        <p:spPr>
          <a:xfrm>
            <a:off x="793595" y="412157"/>
            <a:ext cx="8049321" cy="48236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3200" b="0" i="0">
                <a:solidFill>
                  <a:srgbClr val="002159"/>
                </a:solidFill>
                <a:latin typeface="OPPOSans B" pitchFamily="18" charset="-122"/>
                <a:ea typeface="OPPOSans B" pitchFamily="18" charset="-122"/>
                <a:cs typeface="OPPOSans B" pitchFamily="18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  <a:endParaRPr kumimoji="1" lang="zh-CN" altLang="en-US" dirty="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9273" y="492641"/>
            <a:ext cx="351358" cy="321400"/>
          </a:xfrm>
          <a:prstGeom prst="rect">
            <a:avLst/>
          </a:prstGeom>
        </p:spPr>
      </p:pic>
      <p:pic>
        <p:nvPicPr>
          <p:cNvPr id="13" name="图片 12" descr="图片包含 徽标&#10;&#10;AI 生成的内容可能不正确。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9980" y="320898"/>
            <a:ext cx="1962747" cy="41054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C24D9-A620-1D4B-861E-F9AC4B108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59307-CD76-2C47-9BB5-DDF68613BC51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C24D9-A620-1D4B-861E-F9AC4B108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59307-CD76-2C47-9BB5-DDF68613BC51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C24D9-A620-1D4B-861E-F9AC4B108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59307-CD76-2C47-9BB5-DDF68613BC51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C24D9-A620-1D4B-861E-F9AC4B108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59307-CD76-2C47-9BB5-DDF68613BC51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C24D9-A620-1D4B-861E-F9AC4B108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59307-CD76-2C47-9BB5-DDF68613BC51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C24D9-A620-1D4B-861E-F9AC4B108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59307-CD76-2C47-9BB5-DDF68613BC51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6C24D9-A620-1D4B-861E-F9AC4B108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059307-CD76-2C47-9BB5-DDF68613BC51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9.png"/><Relationship Id="rId3" Type="http://schemas.openxmlformats.org/officeDocument/2006/relationships/image" Target="../media/image47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4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标题 1"/>
          <p:cNvSpPr>
            <a:spLocks noGrp="1"/>
          </p:cNvSpPr>
          <p:nvPr>
            <p:ph type="title"/>
          </p:nvPr>
        </p:nvSpPr>
        <p:spPr>
          <a:xfrm>
            <a:off x="695960" y="287655"/>
            <a:ext cx="11329670" cy="482600"/>
          </a:xfrm>
        </p:spPr>
        <p:txBody>
          <a:bodyPr/>
          <a:lstStyle/>
          <a:p>
            <a:r>
              <a:rPr kumimoji="1" lang="zh-CN" altLang="en-US" sz="2800" b="1" dirty="0">
                <a:solidFill>
                  <a:schemeClr val="tx1"/>
                </a:solidFill>
              </a:rPr>
              <a:t>知识森林是怎么一层层搭起来的</a:t>
            </a:r>
            <a:endParaRPr kumimoji="1" lang="zh-CN" altLang="en-US" sz="2800" b="1" dirty="0">
              <a:solidFill>
                <a:schemeClr val="tx1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220345"/>
            <a:ext cx="420370" cy="617220"/>
          </a:xfrm>
          <a:prstGeom prst="rect">
            <a:avLst/>
          </a:prstGeom>
          <a:solidFill>
            <a:srgbClr val="0356C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矩形 3"/>
          <p:cNvSpPr/>
          <p:nvPr/>
        </p:nvSpPr>
        <p:spPr>
          <a:xfrm>
            <a:off x="524510" y="220345"/>
            <a:ext cx="171450" cy="617220"/>
          </a:xfrm>
          <a:prstGeom prst="rect">
            <a:avLst/>
          </a:prstGeom>
          <a:solidFill>
            <a:srgbClr val="0356C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Oval 5"/>
          <p:cNvSpPr/>
          <p:nvPr/>
        </p:nvSpPr>
        <p:spPr>
          <a:xfrm>
            <a:off x="502920" y="1389888"/>
            <a:ext cx="402336" cy="402336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35331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56082"/>
                </a:solidFill>
                <a:latin typeface="微软雅黑"/>
                <a:ea typeface="微软雅黑"/>
                <a:cs typeface="微软雅黑"/>
              </a:rPr>
              <a:t>数据从哪来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810512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3202C"/>
                </a:solidFill>
                <a:latin typeface="微软雅黑"/>
                <a:ea typeface="微软雅黑"/>
                <a:cs typeface="微软雅黑"/>
              </a:rPr>
              <a:t>全部由提交包生成：scope、taxonomy、references、claim_evidence、条件总表、ideas；共 380 个节点、1420 条边，每个节点记着出处文件。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2962656"/>
            <a:ext cx="402336" cy="402336"/>
          </a:xfrm>
          <a:prstGeom prst="ellipse">
            <a:avLst/>
          </a:prstGeom>
          <a:solidFill>
            <a:srgbClr val="154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926079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54A97"/>
                </a:solidFill>
                <a:latin typeface="微软雅黑"/>
                <a:ea typeface="微软雅黑"/>
                <a:cs typeface="微软雅黑"/>
              </a:rPr>
              <a:t>结构怎么定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83279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3202C"/>
                </a:solidFill>
                <a:latin typeface="微软雅黑"/>
                <a:ea typeface="微软雅黑"/>
                <a:cs typeface="微软雅黑"/>
              </a:rPr>
              <a:t>中心是调研主题，文献树的八个分支 A–H 各占一个扇区；每个新节点挂到它的父节点：文献 → 叶节点 → 分支 → 中心。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4535423"/>
            <a:ext cx="402336" cy="402336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49884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97132"/>
                </a:solidFill>
                <a:latin typeface="微软雅黑"/>
                <a:ea typeface="微软雅黑"/>
                <a:cs typeface="微软雅黑"/>
              </a:rPr>
              <a:t>动画怎么演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956048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3202C"/>
                </a:solidFill>
                <a:latin typeface="微软雅黑"/>
                <a:ea typeface="微软雅黑"/>
                <a:cs typeface="微软雅黑"/>
              </a:rPr>
              <a:t>第 k 级只把本级节点做成贴外框的卡片，用曲线连回父节点；已展开的级收缩成中心的圆点树，八级依次展开。</a:t>
            </a:r>
          </a:p>
        </p:txBody>
      </p:sp>
      <p:pic>
        <p:nvPicPr>
          <p:cNvPr id="15" name="Picture 14" descr="deck_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1055" y="1188720"/>
            <a:ext cx="4572000" cy="2271236"/>
          </a:xfrm>
          <a:prstGeom prst="rect">
            <a:avLst/>
          </a:prstGeom>
          <a:ln w="9525">
            <a:solidFill>
              <a:srgbClr val="D7DEE6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7071055" y="35148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54A97"/>
                </a:solidFill>
                <a:latin typeface="微软雅黑"/>
                <a:ea typeface="微软雅黑"/>
                <a:cs typeface="微软雅黑"/>
              </a:rPr>
              <a:t>第二级　</a:t>
            </a:r>
            <a:r>
              <a:rPr sz="1000" b="0">
                <a:solidFill>
                  <a:srgbClr val="13202C"/>
                </a:solidFill>
                <a:latin typeface="微软雅黑"/>
                <a:ea typeface="微软雅黑"/>
                <a:cs typeface="微软雅黑"/>
              </a:rPr>
              <a:t>8 张分支卡片贴在外框，第一级已收缩成中心的圆点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9219895" y="3844004"/>
            <a:ext cx="274320" cy="219456"/>
          </a:xfrm>
          <a:prstGeom prst="downArrow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eck_S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055" y="4118324"/>
            <a:ext cx="4572000" cy="2271236"/>
          </a:xfrm>
          <a:prstGeom prst="rect">
            <a:avLst/>
          </a:prstGeom>
          <a:ln w="9525">
            <a:solidFill>
              <a:srgbClr val="D7DEE6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071055" y="6444425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54A97"/>
                </a:solidFill>
                <a:latin typeface="微软雅黑"/>
                <a:ea typeface="微软雅黑"/>
                <a:cs typeface="微软雅黑"/>
              </a:rPr>
              <a:t>第八级　</a:t>
            </a:r>
            <a:r>
              <a:rPr sz="1000" b="0">
                <a:solidFill>
                  <a:srgbClr val="13202C"/>
                </a:solidFill>
                <a:latin typeface="微软雅黑"/>
                <a:ea typeface="微软雅黑"/>
                <a:cs typeface="微软雅黑"/>
              </a:rPr>
              <a:t>前七级都收成圆点树，长出的新树挂在外框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标题 1"/>
          <p:cNvSpPr>
            <a:spLocks noGrp="1"/>
          </p:cNvSpPr>
          <p:nvPr>
            <p:ph type="title"/>
          </p:nvPr>
        </p:nvSpPr>
        <p:spPr>
          <a:xfrm>
            <a:off x="695960" y="287655"/>
            <a:ext cx="11329670" cy="482600"/>
          </a:xfrm>
        </p:spPr>
        <p:txBody>
          <a:bodyPr/>
          <a:lstStyle/>
          <a:p>
            <a:r>
              <a:rPr kumimoji="1" lang="zh-CN" altLang="en-US" sz="2800" b="1" dirty="0">
                <a:solidFill>
                  <a:schemeClr val="tx1"/>
                </a:solidFill>
              </a:rPr>
              <a:t>逐层展开：第一到第四级</a:t>
            </a:r>
            <a:endParaRPr kumimoji="1" lang="zh-CN" altLang="en-US" sz="2800" b="1" dirty="0">
              <a:solidFill>
                <a:schemeClr val="tx1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220345"/>
            <a:ext cx="420370" cy="617220"/>
          </a:xfrm>
          <a:prstGeom prst="rect">
            <a:avLst/>
          </a:prstGeom>
          <a:solidFill>
            <a:srgbClr val="0356C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矩形 3"/>
          <p:cNvSpPr/>
          <p:nvPr/>
        </p:nvSpPr>
        <p:spPr>
          <a:xfrm>
            <a:off x="524510" y="220345"/>
            <a:ext cx="171450" cy="617220"/>
          </a:xfrm>
          <a:prstGeom prst="rect">
            <a:avLst/>
          </a:prstGeom>
          <a:solidFill>
            <a:srgbClr val="0356C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Oval 5"/>
          <p:cNvSpPr/>
          <p:nvPr/>
        </p:nvSpPr>
        <p:spPr>
          <a:xfrm>
            <a:off x="1478127" y="1124712"/>
            <a:ext cx="274320" cy="274320"/>
          </a:xfrm>
          <a:prstGeom prst="ellipse">
            <a:avLst/>
          </a:prstGeom>
          <a:solidFill>
            <a:srgbClr val="154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3887" y="1097280"/>
            <a:ext cx="402335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54A97"/>
                </a:solidFill>
                <a:latin typeface="微软雅黑"/>
                <a:ea typeface="微软雅黑"/>
                <a:cs typeface="微软雅黑"/>
              </a:rPr>
              <a:t>第一级 · 调研主题与预期目标</a:t>
            </a:r>
            <a:r>
              <a:rPr sz="105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　13 张卡片</a:t>
            </a:r>
          </a:p>
        </p:txBody>
      </p:sp>
      <p:pic>
        <p:nvPicPr>
          <p:cNvPr id="8" name="Picture 7" descr="deck_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8127" y="1426464"/>
            <a:ext cx="4389120" cy="2180387"/>
          </a:xfrm>
          <a:prstGeom prst="rect">
            <a:avLst/>
          </a:prstGeom>
          <a:ln w="9525">
            <a:solidFill>
              <a:srgbClr val="D7DEE6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478127" y="3652571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3202C"/>
                </a:solidFill>
                <a:latin typeface="微软雅黑"/>
                <a:ea typeface="微软雅黑"/>
                <a:cs typeface="微软雅黑"/>
              </a:rPr>
              <a:t>5 个预期目标 + 8 个子主题，全部挂在中心「调研主题」</a:t>
            </a:r>
          </a:p>
        </p:txBody>
      </p:sp>
      <p:sp>
        <p:nvSpPr>
          <p:cNvPr id="10" name="Oval 9"/>
          <p:cNvSpPr/>
          <p:nvPr/>
        </p:nvSpPr>
        <p:spPr>
          <a:xfrm>
            <a:off x="6324447" y="1124712"/>
            <a:ext cx="274320" cy="274320"/>
          </a:xfrm>
          <a:prstGeom prst="ellipse">
            <a:avLst/>
          </a:prstGeom>
          <a:solidFill>
            <a:srgbClr val="154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0207" y="1097280"/>
            <a:ext cx="402335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54A97"/>
                </a:solidFill>
                <a:latin typeface="微软雅黑"/>
                <a:ea typeface="微软雅黑"/>
                <a:cs typeface="微软雅黑"/>
              </a:rPr>
              <a:t>第二级 · 文献树八分支</a:t>
            </a:r>
            <a:r>
              <a:rPr sz="105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　8 张卡片</a:t>
            </a:r>
          </a:p>
        </p:txBody>
      </p:sp>
      <p:pic>
        <p:nvPicPr>
          <p:cNvPr id="12" name="Picture 11" descr="deck_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1426464"/>
            <a:ext cx="4389120" cy="2180387"/>
          </a:xfrm>
          <a:prstGeom prst="rect">
            <a:avLst/>
          </a:prstGeom>
          <a:ln w="9525">
            <a:solidFill>
              <a:srgbClr val="D7DEE6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324447" y="3652571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3202C"/>
                </a:solidFill>
                <a:latin typeface="微软雅黑"/>
                <a:ea typeface="微软雅黑"/>
                <a:cs typeface="微软雅黑"/>
              </a:rPr>
              <a:t>八个分支 A–H 各占一个扇区；上一级收缩为圆点</a:t>
            </a:r>
          </a:p>
        </p:txBody>
      </p:sp>
      <p:sp>
        <p:nvSpPr>
          <p:cNvPr id="14" name="Oval 13"/>
          <p:cNvSpPr/>
          <p:nvPr/>
        </p:nvSpPr>
        <p:spPr>
          <a:xfrm>
            <a:off x="1478127" y="3963467"/>
            <a:ext cx="274320" cy="274320"/>
          </a:xfrm>
          <a:prstGeom prst="ellipse">
            <a:avLst/>
          </a:prstGeom>
          <a:solidFill>
            <a:srgbClr val="154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3887" y="3936035"/>
            <a:ext cx="402335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54A97"/>
                </a:solidFill>
                <a:latin typeface="微软雅黑"/>
                <a:ea typeface="微软雅黑"/>
                <a:cs typeface="微软雅黑"/>
              </a:rPr>
              <a:t>第三级 · 叶节点</a:t>
            </a:r>
            <a:r>
              <a:rPr sz="105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　35 张卡片</a:t>
            </a:r>
          </a:p>
        </p:txBody>
      </p:sp>
      <p:pic>
        <p:nvPicPr>
          <p:cNvPr id="16" name="Picture 15" descr="deck_S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127" y="4265219"/>
            <a:ext cx="4389120" cy="2180387"/>
          </a:xfrm>
          <a:prstGeom prst="rect">
            <a:avLst/>
          </a:prstGeom>
          <a:ln w="9525">
            <a:solidFill>
              <a:srgbClr val="D7DEE6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1478127" y="6491326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3202C"/>
                </a:solidFill>
                <a:latin typeface="微软雅黑"/>
                <a:ea typeface="微软雅黑"/>
                <a:cs typeface="微软雅黑"/>
              </a:rPr>
              <a:t>35 个叶节点挂到所属分支；描边色 = 证据等级</a:t>
            </a:r>
          </a:p>
        </p:txBody>
      </p:sp>
      <p:sp>
        <p:nvSpPr>
          <p:cNvPr id="18" name="Oval 17"/>
          <p:cNvSpPr/>
          <p:nvPr/>
        </p:nvSpPr>
        <p:spPr>
          <a:xfrm>
            <a:off x="6324447" y="3963467"/>
            <a:ext cx="274320" cy="274320"/>
          </a:xfrm>
          <a:prstGeom prst="ellipse">
            <a:avLst/>
          </a:prstGeom>
          <a:solidFill>
            <a:srgbClr val="154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0207" y="3936035"/>
            <a:ext cx="402335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54A97"/>
                </a:solidFill>
                <a:latin typeface="微软雅黑"/>
                <a:ea typeface="微软雅黑"/>
                <a:cs typeface="微软雅黑"/>
              </a:rPr>
              <a:t>第四级 · 文献</a:t>
            </a:r>
            <a:r>
              <a:rPr sz="105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　51 张卡片</a:t>
            </a:r>
          </a:p>
        </p:txBody>
      </p:sp>
      <p:pic>
        <p:nvPicPr>
          <p:cNvPr id="20" name="Picture 19" descr="deck_S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4447" y="4265219"/>
            <a:ext cx="4389120" cy="2180387"/>
          </a:xfrm>
          <a:prstGeom prst="rect">
            <a:avLst/>
          </a:prstGeom>
          <a:ln w="9525">
            <a:solidFill>
              <a:srgbClr val="D7DEE6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6324447" y="6491326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3202C"/>
                </a:solidFill>
                <a:latin typeface="微软雅黑"/>
                <a:ea typeface="微软雅黑"/>
                <a:cs typeface="微软雅黑"/>
              </a:rPr>
              <a:t>51 篇文献挂到它支撑的叶节点；实心橙 = 目标相直接报道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标题 1"/>
          <p:cNvSpPr>
            <a:spLocks noGrp="1"/>
          </p:cNvSpPr>
          <p:nvPr>
            <p:ph type="title"/>
          </p:nvPr>
        </p:nvSpPr>
        <p:spPr>
          <a:xfrm>
            <a:off x="695960" y="287655"/>
            <a:ext cx="11329670" cy="482600"/>
          </a:xfrm>
        </p:spPr>
        <p:txBody>
          <a:bodyPr/>
          <a:lstStyle/>
          <a:p>
            <a:r>
              <a:rPr kumimoji="1" lang="zh-CN" altLang="en-US" sz="2800" b="1" dirty="0">
                <a:solidFill>
                  <a:schemeClr val="tx1"/>
                </a:solidFill>
              </a:rPr>
              <a:t>逐层展开：第五到第八级</a:t>
            </a:r>
            <a:endParaRPr kumimoji="1" lang="zh-CN" altLang="en-US" sz="2800" b="1" dirty="0">
              <a:solidFill>
                <a:schemeClr val="tx1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220345"/>
            <a:ext cx="420370" cy="617220"/>
          </a:xfrm>
          <a:prstGeom prst="rect">
            <a:avLst/>
          </a:prstGeom>
          <a:solidFill>
            <a:srgbClr val="0356C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矩形 3"/>
          <p:cNvSpPr/>
          <p:nvPr/>
        </p:nvSpPr>
        <p:spPr>
          <a:xfrm>
            <a:off x="524510" y="220345"/>
            <a:ext cx="171450" cy="617220"/>
          </a:xfrm>
          <a:prstGeom prst="rect">
            <a:avLst/>
          </a:prstGeom>
          <a:solidFill>
            <a:srgbClr val="0356C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Oval 5"/>
          <p:cNvSpPr/>
          <p:nvPr/>
        </p:nvSpPr>
        <p:spPr>
          <a:xfrm>
            <a:off x="1478127" y="1124712"/>
            <a:ext cx="274320" cy="274320"/>
          </a:xfrm>
          <a:prstGeom prst="ellipse">
            <a:avLst/>
          </a:prstGeom>
          <a:solidFill>
            <a:srgbClr val="154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3887" y="1097280"/>
            <a:ext cx="402335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54A97"/>
                </a:solidFill>
                <a:latin typeface="微软雅黑"/>
                <a:ea typeface="微软雅黑"/>
                <a:cs typeface="微软雅黑"/>
              </a:rPr>
              <a:t>第五级 · 元素与化合物</a:t>
            </a:r>
            <a:r>
              <a:rPr sz="105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　41 张卡片</a:t>
            </a:r>
          </a:p>
        </p:txBody>
      </p:sp>
      <p:pic>
        <p:nvPicPr>
          <p:cNvPr id="8" name="Picture 7" descr="deck_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8127" y="1426464"/>
            <a:ext cx="4389120" cy="2180387"/>
          </a:xfrm>
          <a:prstGeom prst="rect">
            <a:avLst/>
          </a:prstGeom>
          <a:ln w="9525">
            <a:solidFill>
              <a:srgbClr val="D7DEE6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478127" y="3652571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3202C"/>
                </a:solidFill>
                <a:latin typeface="微软雅黑"/>
                <a:ea typeface="微软雅黑"/>
                <a:cs typeface="微软雅黑"/>
              </a:rPr>
              <a:t>12 个元素 + 29 个化合物挂到定义它的叶或分支；紫虚线 = AI 假设目标</a:t>
            </a:r>
          </a:p>
        </p:txBody>
      </p:sp>
      <p:sp>
        <p:nvSpPr>
          <p:cNvPr id="10" name="Oval 9"/>
          <p:cNvSpPr/>
          <p:nvPr/>
        </p:nvSpPr>
        <p:spPr>
          <a:xfrm>
            <a:off x="6324447" y="1124712"/>
            <a:ext cx="274320" cy="274320"/>
          </a:xfrm>
          <a:prstGeom prst="ellipse">
            <a:avLst/>
          </a:prstGeom>
          <a:solidFill>
            <a:srgbClr val="154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0207" y="1097280"/>
            <a:ext cx="402335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54A97"/>
                </a:solidFill>
                <a:latin typeface="微软雅黑"/>
                <a:ea typeface="微软雅黑"/>
                <a:cs typeface="微软雅黑"/>
              </a:rPr>
              <a:t>第六级 · 合成路线与条件记录</a:t>
            </a:r>
            <a:r>
              <a:rPr sz="105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　35 张卡片</a:t>
            </a:r>
          </a:p>
        </p:txBody>
      </p:sp>
      <p:pic>
        <p:nvPicPr>
          <p:cNvPr id="12" name="Picture 11" descr="deck_S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1426464"/>
            <a:ext cx="4389120" cy="2180387"/>
          </a:xfrm>
          <a:prstGeom prst="rect">
            <a:avLst/>
          </a:prstGeom>
          <a:ln w="9525">
            <a:solidFill>
              <a:srgbClr val="D7DEE6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324447" y="3652571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3202C"/>
                </a:solidFill>
                <a:latin typeface="微软雅黑"/>
                <a:ea typeface="微软雅黑"/>
                <a:cs typeface="微软雅黑"/>
              </a:rPr>
              <a:t>6 条路线 + 29 条条件记录挂到路线上；角标 = A / B / C 区</a:t>
            </a:r>
          </a:p>
        </p:txBody>
      </p:sp>
      <p:sp>
        <p:nvSpPr>
          <p:cNvPr id="14" name="Oval 13"/>
          <p:cNvSpPr/>
          <p:nvPr/>
        </p:nvSpPr>
        <p:spPr>
          <a:xfrm>
            <a:off x="1478127" y="3963467"/>
            <a:ext cx="274320" cy="274320"/>
          </a:xfrm>
          <a:prstGeom prst="ellipse">
            <a:avLst/>
          </a:prstGeom>
          <a:solidFill>
            <a:srgbClr val="154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3887" y="3936035"/>
            <a:ext cx="402335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54A97"/>
                </a:solidFill>
                <a:latin typeface="微软雅黑"/>
                <a:ea typeface="微软雅黑"/>
                <a:cs typeface="微软雅黑"/>
              </a:rPr>
              <a:t>第七级 · 结论 · 方向 · 缺口</a:t>
            </a:r>
            <a:r>
              <a:rPr sz="105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　16 张卡片</a:t>
            </a:r>
          </a:p>
        </p:txBody>
      </p:sp>
      <p:pic>
        <p:nvPicPr>
          <p:cNvPr id="16" name="Picture 15" descr="deck_S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127" y="4265219"/>
            <a:ext cx="4389120" cy="2180387"/>
          </a:xfrm>
          <a:prstGeom prst="rect">
            <a:avLst/>
          </a:prstGeom>
          <a:ln w="9525">
            <a:solidFill>
              <a:srgbClr val="D7DEE6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1478127" y="6491326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3202C"/>
                </a:solidFill>
                <a:latin typeface="微软雅黑"/>
                <a:ea typeface="微软雅黑"/>
                <a:cs typeface="微软雅黑"/>
              </a:rPr>
              <a:t>4 条结论 + 4 个 AI 方向 + 8 条缺口，挂在 H / G 分支</a:t>
            </a:r>
          </a:p>
        </p:txBody>
      </p:sp>
      <p:sp>
        <p:nvSpPr>
          <p:cNvPr id="18" name="Oval 17"/>
          <p:cNvSpPr/>
          <p:nvPr/>
        </p:nvSpPr>
        <p:spPr>
          <a:xfrm>
            <a:off x="6324447" y="3963467"/>
            <a:ext cx="274320" cy="274320"/>
          </a:xfrm>
          <a:prstGeom prst="ellipse">
            <a:avLst/>
          </a:prstGeom>
          <a:solidFill>
            <a:srgbClr val="154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0207" y="3936035"/>
            <a:ext cx="402335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54A97"/>
                </a:solidFill>
                <a:latin typeface="微软雅黑"/>
                <a:ea typeface="微软雅黑"/>
                <a:cs typeface="微软雅黑"/>
              </a:rPr>
              <a:t>第八级 · 长出的新树</a:t>
            </a:r>
            <a:r>
              <a:rPr sz="105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　12 张卡片</a:t>
            </a:r>
          </a:p>
        </p:txBody>
      </p:sp>
      <p:pic>
        <p:nvPicPr>
          <p:cNvPr id="20" name="Picture 19" descr="deck_S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4447" y="4265219"/>
            <a:ext cx="4389120" cy="2180387"/>
          </a:xfrm>
          <a:prstGeom prst="rect">
            <a:avLst/>
          </a:prstGeom>
          <a:ln w="9525">
            <a:solidFill>
              <a:srgbClr val="D7DEE6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6324447" y="6491326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3202C"/>
                </a:solidFill>
                <a:latin typeface="微软雅黑"/>
                <a:ea typeface="微软雅黑"/>
                <a:cs typeface="微软雅黑"/>
              </a:rPr>
              <a:t>RECIPE 预测 3 + 工作流 5 + 同根调研 4，挂在 E / D / A 分支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标题 1"/>
          <p:cNvSpPr>
            <a:spLocks noGrp="1"/>
          </p:cNvSpPr>
          <p:nvPr>
            <p:ph type="title"/>
          </p:nvPr>
        </p:nvSpPr>
        <p:spPr>
          <a:xfrm>
            <a:off x="695960" y="287655"/>
            <a:ext cx="11329670" cy="482600"/>
          </a:xfrm>
        </p:spPr>
        <p:txBody>
          <a:bodyPr/>
          <a:lstStyle/>
          <a:p>
            <a:r>
              <a:rPr kumimoji="1" lang="zh-CN" altLang="en-US" sz="2800" b="1" dirty="0">
                <a:solidFill>
                  <a:schemeClr val="tx1"/>
                </a:solidFill>
              </a:rPr>
              <a:t>八级一览：新增 · 来源 · 挂法</a:t>
            </a:r>
            <a:endParaRPr kumimoji="1" lang="zh-CN" altLang="en-US" sz="2800" b="1" dirty="0">
              <a:solidFill>
                <a:schemeClr val="tx1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220345"/>
            <a:ext cx="420370" cy="617220"/>
          </a:xfrm>
          <a:prstGeom prst="rect">
            <a:avLst/>
          </a:prstGeom>
          <a:solidFill>
            <a:srgbClr val="0356C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矩形 3"/>
          <p:cNvSpPr/>
          <p:nvPr/>
        </p:nvSpPr>
        <p:spPr>
          <a:xfrm>
            <a:off x="524510" y="220345"/>
            <a:ext cx="171450" cy="617220"/>
          </a:xfrm>
          <a:prstGeom prst="rect">
            <a:avLst/>
          </a:prstGeom>
          <a:solidFill>
            <a:srgbClr val="0356C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43000"/>
          <a:ext cx="11183112" cy="4462272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457200"/>
                <a:gridCol w="3291840"/>
                <a:gridCol w="3703320"/>
                <a:gridCol w="3730752"/>
              </a:tblGrid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级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154A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新增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154A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来源（提交包里的文件）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154A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挂法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154A9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100" b="1">
                          <a:solidFill>
                            <a:srgbClr val="154A9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950" b="1">
                          <a:solidFill>
                            <a:srgbClr val="154A9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调研主题与预期目标　</a:t>
                      </a:r>
                      <a:r>
                        <a:rPr sz="950" b="0">
                          <a:solidFill>
                            <a:srgbClr val="13202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 个预期目标 Q1–Q5、8 个 MECE 子主题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95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正式案例 inputs/scope.md（研究者开始前自己的问题树）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950" b="0">
                          <a:solidFill>
                            <a:srgbClr val="13202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挂在中心；目标按它服务的子主题方向排布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100" b="1">
                          <a:solidFill>
                            <a:srgbClr val="154A9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950" b="1">
                          <a:solidFill>
                            <a:srgbClr val="154A9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文献树八分支　</a:t>
                      </a:r>
                      <a:r>
                        <a:rPr sz="950" b="0">
                          <a:solidFill>
                            <a:srgbClr val="13202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A–H：身份 / 结构 / 替代 / 路线 / 变量 / 表征 / 失败 / 配方篮子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95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证据包 taxonomy.md §2（MECE 切分）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950" b="0">
                          <a:solidFill>
                            <a:srgbClr val="13202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挂在中心，每个分支一个扇区；从这一级起已展开的级收缩为圆点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7F9F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100" b="1">
                          <a:solidFill>
                            <a:srgbClr val="154A9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950" b="1">
                          <a:solidFill>
                            <a:srgbClr val="154A9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叶节点　</a:t>
                      </a:r>
                      <a:r>
                        <a:rPr sz="950" b="0">
                          <a:solidFill>
                            <a:srgbClr val="13202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 个叶节点，每个是一类证据主张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95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taxonomy.md 各叶的判定 / 支撑 key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950" b="0">
                          <a:solidFill>
                            <a:srgbClr val="13202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挂在所属分支的圆点上，同一扇区内按顺序排开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100" b="1">
                          <a:solidFill>
                            <a:srgbClr val="154A9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950" b="1">
                          <a:solidFill>
                            <a:srgbClr val="154A9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文献　</a:t>
                      </a:r>
                      <a:r>
                        <a:rPr sz="950" b="0">
                          <a:solidFill>
                            <a:srgbClr val="13202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51 篇通过引用闸门的文献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95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references.bib + papers.jsonl（DOI、题名、年份、期刊）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950" b="0">
                          <a:solidFill>
                            <a:srgbClr val="13202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挂在它支撑的第一个叶节点；颜色 = 证据距离（D0 … X）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7F9F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100" b="1">
                          <a:solidFill>
                            <a:srgbClr val="154A9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950" b="1">
                          <a:solidFill>
                            <a:srgbClr val="154A9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元素与化合物　</a:t>
                      </a:r>
                      <a:r>
                        <a:rPr sz="950" b="0">
                          <a:solidFill>
                            <a:srgbClr val="13202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 个元素、29 个化合物 / 相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95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条件总表产物字段 + 人工别名表；元素由化学式解析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950" b="0">
                          <a:solidFill>
                            <a:srgbClr val="13202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挂在定义它的叶节点或分支；紫虚线 = AI 假设目标，尚未合成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100" b="1">
                          <a:solidFill>
                            <a:srgbClr val="154A9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950" b="1">
                          <a:solidFill>
                            <a:srgbClr val="154A9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合成路线与条件记录　</a:t>
                      </a:r>
                      <a:r>
                        <a:rPr sz="950" b="0">
                          <a:solidFill>
                            <a:srgbClr val="13202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 条路线（含水热空白）、29 条逐字段条件记录 A1、B1–B6、C1–C22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95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论文 §3 合成条件总表，逐单元格转成卡片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950" b="0">
                          <a:solidFill>
                            <a:srgbClr val="13202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记录挂在自己的路线圆点上；副标题 = 温度–时间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7F9F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100" b="1">
                          <a:solidFill>
                            <a:srgbClr val="154A9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950" b="1">
                          <a:solidFill>
                            <a:srgbClr val="154A9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结论 · 方向 · 缺口　</a:t>
                      </a:r>
                      <a:r>
                        <a:rPr sz="950" b="0">
                          <a:solidFill>
                            <a:srgbClr val="13202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 条综述结论、4 个 AI 实验方向、8 条证据缺口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95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claim_evidence.jsonl §7、ideas/experiment_directions.md、taxonomy §5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950" b="0">
                          <a:solidFill>
                            <a:srgbClr val="13202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挂在 H 配方篮子 / G 失败边界；橙 = 结论，紫虚线 = AI，灰虚线 = 未闭合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100" b="1">
                          <a:solidFill>
                            <a:srgbClr val="154A9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950" b="1">
                          <a:solidFill>
                            <a:srgbClr val="154A9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长出的新树　</a:t>
                      </a:r>
                      <a:r>
                        <a:rPr sz="950" b="0">
                          <a:solidFill>
                            <a:srgbClr val="13202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RECIPE 前驱体组合 3、OpenLab 工作流 5、同根调研 4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95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precursor_predictions.md、站点 showcase、补充案例 ledger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950" b="0">
                          <a:solidFill>
                            <a:srgbClr val="13202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挂在 E / D / A 分支；紫 = 模型预测（未验证），深青 = 仿真工作流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7DEE6"/>
                      </a:solidFill>
                    </a:lnB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0533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54A97"/>
                </a:solidFill>
                <a:latin typeface="微软雅黑"/>
                <a:ea typeface="微软雅黑"/>
                <a:cs typeface="微软雅黑"/>
              </a:rPr>
              <a:t>卡片语法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6089904"/>
            <a:ext cx="310896" cy="201168"/>
          </a:xfrm>
          <a:prstGeom prst="roundRect">
            <a:avLst>
              <a:gd name="adj" fmla="val 6000"/>
            </a:avLst>
          </a:prstGeom>
          <a:solidFill>
            <a:srgbClr val="E97132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847088" y="6053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3202C"/>
                </a:solidFill>
                <a:latin typeface="微软雅黑"/>
                <a:ea typeface="微软雅黑"/>
                <a:cs typeface="微软雅黑"/>
              </a:rPr>
              <a:t>实心橙 = 综述结论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54680" y="6089904"/>
            <a:ext cx="310896" cy="201168"/>
          </a:xfrm>
          <a:prstGeom prst="roundRect">
            <a:avLst>
              <a:gd name="adj" fmla="val 6000"/>
            </a:avLst>
          </a:prstGeom>
          <a:solidFill>
            <a:srgbClr val="FDEEE2"/>
          </a:solidFill>
          <a:ln w="15875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538728" y="6053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3202C"/>
                </a:solidFill>
                <a:latin typeface="微软雅黑"/>
                <a:ea typeface="微软雅黑"/>
                <a:cs typeface="微软雅黑"/>
              </a:rPr>
              <a:t>等级色 = 文献·化合物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6089904"/>
            <a:ext cx="310896" cy="201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230368" y="6053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3202C"/>
                </a:solidFill>
                <a:latin typeface="微软雅黑"/>
                <a:ea typeface="微软雅黑"/>
                <a:cs typeface="微软雅黑"/>
              </a:rPr>
              <a:t>描边 = 条件·叶节点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6089904"/>
            <a:ext cx="310896" cy="201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A4FD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22008" y="6053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3202C"/>
                </a:solidFill>
                <a:latin typeface="微软雅黑"/>
                <a:ea typeface="微软雅黑"/>
                <a:cs typeface="微软雅黑"/>
              </a:rPr>
              <a:t>紫虚线 = AI 方向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6089904"/>
            <a:ext cx="310896" cy="201168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5A6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613648" y="6053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3202C"/>
                </a:solidFill>
                <a:latin typeface="微软雅黑"/>
                <a:ea typeface="微软雅黑"/>
                <a:cs typeface="微软雅黑"/>
              </a:rPr>
              <a:t>灰虚线 = 证据缺口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21240" y="6089904"/>
            <a:ext cx="310896" cy="201168"/>
          </a:xfrm>
          <a:prstGeom prst="roundRect">
            <a:avLst>
              <a:gd name="adj" fmla="val 6000"/>
            </a:avLst>
          </a:prstGeom>
          <a:solidFill>
            <a:srgbClr val="156082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305288" y="6053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3202C"/>
                </a:solidFill>
                <a:latin typeface="微软雅黑"/>
                <a:ea typeface="微软雅黑"/>
                <a:cs typeface="微软雅黑"/>
              </a:rPr>
              <a:t>深青 = 仿真工作流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4328</Words>
  <Application>WPS 演示</Application>
  <PresentationFormat>宽屏</PresentationFormat>
  <Paragraphs>308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49" baseType="lpstr">
      <vt:lpstr>Arial</vt:lpstr>
      <vt:lpstr>宋体</vt:lpstr>
      <vt:lpstr>Wingdings</vt:lpstr>
      <vt:lpstr>OPPOSans B</vt:lpstr>
      <vt:lpstr>苹方-简</vt:lpstr>
      <vt:lpstr>OPPOSans M</vt:lpstr>
      <vt:lpstr>微软雅黑</vt:lpstr>
      <vt:lpstr>方正雅意黑 GB18030L2</vt:lpstr>
      <vt:lpstr>宋体</vt:lpstr>
      <vt:lpstr>Arial Unicode MS</vt:lpstr>
      <vt:lpstr>等线 Light</vt:lpstr>
      <vt:lpstr>汉仪中等线KW</vt:lpstr>
      <vt:lpstr>等线</vt:lpstr>
      <vt:lpstr>Calibri</vt:lpstr>
      <vt:lpstr>Helvetica Neue</vt:lpstr>
      <vt:lpstr>汉仪书宋二KW</vt:lpstr>
      <vt:lpstr>OPPOSans B</vt:lpstr>
      <vt:lpstr>OPPOSans M</vt:lpstr>
      <vt:lpstr>Segoe UI</vt:lpstr>
      <vt:lpstr>Thonburi</vt:lpstr>
      <vt:lpstr>微软雅黑</vt:lpstr>
      <vt:lpstr>Times New Roman</vt:lpstr>
      <vt:lpstr>Arial</vt:lpstr>
      <vt:lpstr>Helvetica Neue Medium</vt:lpstr>
      <vt:lpstr>Helvetica Neue Medium</vt:lpstr>
      <vt:lpstr>Segoe UI</vt:lpstr>
      <vt:lpstr>微软雅黑</vt:lpstr>
      <vt:lpstr>OPPOSans</vt:lpstr>
      <vt:lpstr>Tahoma</vt:lpstr>
      <vt:lpstr>思源黑体 Light</vt:lpstr>
      <vt:lpstr>汉仪中黑KW</vt:lpstr>
      <vt:lpstr>Office 主题​​</vt:lpstr>
      <vt:lpstr>PowerPoint 演示文稿</vt:lpstr>
      <vt:lpstr>PowerPoint 演示文稿</vt:lpstr>
      <vt:lpstr>PowerPoint 演示文稿</vt:lpstr>
      <vt:lpstr>内页标题文案预留内页标题文案预留 Inner Page Title Placeholder</vt:lpstr>
      <vt:lpstr>自动化实验室需要可用的合成知识</vt:lpstr>
      <vt:lpstr>自动化实验室的真正价值：随实验迭代的知识闭环</vt:lpstr>
      <vt:lpstr>自动化实验室的真正价值：随实验迭代的知识闭环</vt:lpstr>
      <vt:lpstr>自动化实验室的真正价值：随实验迭代的知识闭环</vt:lpstr>
      <vt:lpstr>自动化实验室的真正价值：随实验迭代的知识闭环</vt:lpstr>
      <vt:lpstr>自动化实验室的真正价值：随实验迭代的知识闭环</vt:lpstr>
      <vt:lpstr>自动化实验室的真正价值：随实验迭代的知识闭环</vt:lpstr>
      <vt:lpstr>自动化实验室的真正价值：随实验迭代的知识闭环</vt:lpstr>
      <vt:lpstr>自动化实验室的真正价值：随实验迭代的知识闭环</vt:lpstr>
      <vt:lpstr>自动化实验室的真正价值：随实验迭代的知识闭环</vt:lpstr>
      <vt:lpstr>自动化实验室的真正价值：随实验迭代的知识闭环</vt:lpstr>
      <vt:lpstr>元素（可用做背景装饰） Decorative Elements (for Background Use)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Benshun Yin</dc:creator>
  <cp:lastModifiedBy>吕丁阳</cp:lastModifiedBy>
  <cp:revision>68</cp:revision>
  <dcterms:created xsi:type="dcterms:W3CDTF">2026-09-17T09:10:26Z</dcterms:created>
  <dcterms:modified xsi:type="dcterms:W3CDTF">2026-09-17T09:10:26Z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B8BE9F4AE3199E69D309A96AD4C8C264_42</vt:lpwstr>
  </property>
  <property fmtid="{D5CDD505-2E9C-101B-9397-08002B2CF9AE}" pid="3" name="KSOProductBuildVer">
    <vt:lpwstr>2052-12.1.26046.26046</vt:lpwstr>
  </property>
</Properties>
</file>