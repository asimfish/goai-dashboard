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4"/>
  </p:notesMasterIdLst>
  <p:sldIdLst>
    <p:sldId id="283" r:id="rId24"/>
    <p:sldId id="284" r:id="rId25"/>
    <p:sldId id="285" r:id="rId26"/>
  </p:sldIdLst>
  <p:sldSz cx="12192000" cy="6858000"/>
  <p:notesSz cx="6858000" cy="9144000"/>
  <p:embeddedFontLst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pos="37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56C0"/>
    <a:srgbClr val="002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41"/>
    <p:restoredTop sz="94633"/>
  </p:normalViewPr>
  <p:slideViewPr>
    <p:cSldViewPr snapToGrid="0" showGuides="1">
      <p:cViewPr>
        <p:scale>
          <a:sx n="88" d="100"/>
          <a:sy n="88" d="100"/>
        </p:scale>
        <p:origin x="1584" y="1568"/>
      </p:cViewPr>
      <p:guideLst>
        <p:guide orient="horz" pos="2158"/>
        <p:guide pos="37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图案&#10;&#10;AI 生成的内容可能不正确。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810324" y="1735486"/>
            <a:ext cx="7977415" cy="1933071"/>
          </a:xfrm>
        </p:spPr>
        <p:txBody>
          <a:bodyPr anchor="b"/>
          <a:lstStyle>
            <a:lvl1pPr algn="l">
              <a:lnSpc>
                <a:spcPct val="100000"/>
              </a:lnSpc>
              <a:defRPr sz="60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</a:t>
            </a:r>
            <a:br>
              <a:rPr kumimoji="1" lang="en-US" altLang="zh-CN" dirty="0"/>
            </a:br>
            <a:r>
              <a:rPr kumimoji="1" lang="zh-CN" altLang="en-US" dirty="0"/>
              <a:t>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10325" y="4644384"/>
            <a:ext cx="5084957" cy="4125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  <a:endParaRPr kumimoji="1" lang="zh-CN" altLang="en-US" dirty="0"/>
          </a:p>
        </p:txBody>
      </p:sp>
      <p:pic>
        <p:nvPicPr>
          <p:cNvPr id="8" name="图片 7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0706" y="400635"/>
            <a:ext cx="2809907" cy="5875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0021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chemeClr val="bg1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1" name="图片 10" descr="画着卡通图案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3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793595" y="412157"/>
            <a:ext cx="8049321" cy="48236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3200" b="0" i="0">
                <a:solidFill>
                  <a:srgbClr val="002159"/>
                </a:solidFill>
                <a:latin typeface="OPPOSans B" pitchFamily="18" charset="-122"/>
                <a:ea typeface="OPPOSans B" pitchFamily="18" charset="-122"/>
                <a:cs typeface="OPPOSans B" pitchFamily="18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9273" y="492641"/>
            <a:ext cx="351358" cy="321400"/>
          </a:xfrm>
          <a:prstGeom prst="rect">
            <a:avLst/>
          </a:prstGeom>
        </p:spPr>
      </p:pic>
      <p:pic>
        <p:nvPicPr>
          <p:cNvPr id="13" name="图片 12" descr="图片包含 徽标&#10;&#10;AI 生成的内容可能不正确。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79980" y="320898"/>
            <a:ext cx="1962747" cy="4105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C24D9-A620-1D4B-861E-F9AC4B108657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59307-CD76-2C47-9BB5-DDF68613BC5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1.png"/><Relationship Id="rId3" Type="http://schemas.openxmlformats.org/officeDocument/2006/relationships/image" Target="../media/image47.png"/><Relationship Id="rId4" Type="http://schemas.openxmlformats.org/officeDocument/2006/relationships/image" Target="../media/image52.png"/><Relationship Id="rId5" Type="http://schemas.openxmlformats.org/officeDocument/2006/relationships/image" Target="../media/image4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3.png"/><Relationship Id="rId3" Type="http://schemas.openxmlformats.org/officeDocument/2006/relationships/image" Target="../media/image49.png"/><Relationship Id="rId4" Type="http://schemas.openxmlformats.org/officeDocument/2006/relationships/image" Target="../media/image54.png"/><Relationship Id="rId5" Type="http://schemas.openxmlformats.org/officeDocument/2006/relationships/image" Target="../media/image50.png"/></Relationships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3296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知识森林是怎么一层层搭起来的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Oval 5"/>
          <p:cNvSpPr/>
          <p:nvPr/>
        </p:nvSpPr>
        <p:spPr>
          <a:xfrm>
            <a:off x="457200" y="1179576"/>
            <a:ext cx="384048" cy="384048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143000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数据从哪来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0472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· 全部由提交包生成：scope.md、taxonomy.md、references.bib、claim_evidence.jsonl、条件总表、ideas/ 与补充案例 ledger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· build_graph.py 读这些文件得到 380 个节点、1420 条边；每个节点都记着自己的出处文件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07208"/>
            <a:ext cx="384048" cy="384048"/>
          </a:xfrm>
          <a:prstGeom prst="ellipse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70632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结构怎么定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18104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· 中心是调研主题；文献树的八个分支 A–H 各占一个扇区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· 每个新节点挂到它的父节点：文献 → 叶节点 → 分支 → 中心；化合物 → 定义它的叶；条件记录 → 路线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34840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398264"/>
            <a:ext cx="4434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7132"/>
                </a:solidFill>
                <a:latin typeface="微软雅黑"/>
                <a:ea typeface="微软雅黑"/>
                <a:cs typeface="微软雅黑"/>
              </a:rPr>
              <a:t>动画怎么演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745736"/>
            <a:ext cx="4434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· 第 k 级只把本级节点做成贴外框的文字卡片，用曲线连回父节点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· 已展开的级收缩成中心的圆点树；卡片与圆点互相形变，底部字幕说明本级由什么构成</a:t>
            </a:r>
          </a:p>
        </p:txBody>
      </p:sp>
      <p:pic>
        <p:nvPicPr>
          <p:cNvPr id="15" name="Picture 14" descr="deck_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97280"/>
            <a:ext cx="3017520" cy="149961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806440" y="2651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第二级 · 八分支</a:t>
            </a:r>
          </a:p>
        </p:txBody>
      </p:sp>
      <p:pic>
        <p:nvPicPr>
          <p:cNvPr id="17" name="Picture 16" descr="deck_L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097280"/>
            <a:ext cx="3017520" cy="149961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18" name="TextBox 17"/>
          <p:cNvSpPr txBox="1"/>
          <p:nvPr/>
        </p:nvSpPr>
        <p:spPr>
          <a:xfrm>
            <a:off x="9006840" y="2651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第四级 · 51 篇文献</a:t>
            </a:r>
          </a:p>
        </p:txBody>
      </p:sp>
      <p:pic>
        <p:nvPicPr>
          <p:cNvPr id="19" name="Picture 18" descr="deck_L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3163824"/>
            <a:ext cx="3017520" cy="149961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806440" y="4718303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第六级 · 路线与条件记录</a:t>
            </a:r>
          </a:p>
        </p:txBody>
      </p:sp>
      <p:pic>
        <p:nvPicPr>
          <p:cNvPr id="21" name="Picture 20" descr="deck_L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3163824"/>
            <a:ext cx="3017520" cy="149961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9006840" y="4718303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第八级 · 长出的新树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42247" y="1755648"/>
            <a:ext cx="146304" cy="182880"/>
          </a:xfrm>
          <a:prstGeom prst="rightArrow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842247" y="3822192"/>
            <a:ext cx="146304" cy="182880"/>
          </a:xfrm>
          <a:prstGeom prst="rightArrow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" y="5897880"/>
            <a:ext cx="11247120" cy="566928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4360" y="598932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卡片语法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691640" y="6071616"/>
            <a:ext cx="310896" cy="219456"/>
          </a:xfrm>
          <a:prstGeom prst="roundRect">
            <a:avLst>
              <a:gd name="adj" fmla="val 6000"/>
            </a:avLst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075688" y="59893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实心橙 = 综述结论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37560" y="6071616"/>
            <a:ext cx="310896" cy="219456"/>
          </a:xfrm>
          <a:prstGeom prst="roundRect">
            <a:avLst>
              <a:gd name="adj" fmla="val 6000"/>
            </a:avLst>
          </a:prstGeom>
          <a:solidFill>
            <a:srgbClr val="FDEEE2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721608" y="59893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等级色 = 文献·化合物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83480" y="6071616"/>
            <a:ext cx="310896" cy="2194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367528" y="59893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描边卡 = 条件·叶节点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29400" y="6071616"/>
            <a:ext cx="310896" cy="2194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7A4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013448" y="59893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紫虚线 = AI 方向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6071616"/>
            <a:ext cx="310896" cy="219456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5875">
            <a:solidFill>
              <a:srgbClr val="5A6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659368" y="59893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灰虚线 = 证据缺口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21240" y="6071616"/>
            <a:ext cx="310896" cy="219456"/>
          </a:xfrm>
          <a:prstGeom prst="roundRect">
            <a:avLst>
              <a:gd name="adj" fmla="val 6000"/>
            </a:avLst>
          </a:prstGeom>
          <a:solidFill>
            <a:srgbClr val="15608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305288" y="59893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深青 = 仿真工作流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3296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逐层展开：第一到第四级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5623560" cy="2633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eck_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463039"/>
            <a:ext cx="3566160" cy="177393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8" name="Oval 7"/>
          <p:cNvSpPr/>
          <p:nvPr/>
        </p:nvSpPr>
        <p:spPr>
          <a:xfrm>
            <a:off x="521208" y="1152144"/>
            <a:ext cx="274320" cy="274320"/>
          </a:xfrm>
          <a:prstGeom prst="ellipse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133856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第一级 · 调研主题与预期目标</a:t>
            </a:r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（13）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7096" y="1463039"/>
            <a:ext cx="1728216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新增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5 个预期目标 Q1–Q5 与 8 个 MECE 子主题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9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正式案例 inputs/scope.md（调研开始前研究者自己的问题树）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挂法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全部挂在中心「调研主题」；目标按它服务的子主题方向排布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291839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中心：研究者与调研主题；13 张卡片沿外框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078992"/>
            <a:ext cx="5623560" cy="2633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deck_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39"/>
            <a:ext cx="3566160" cy="177393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14" name="Oval 13"/>
          <p:cNvSpPr/>
          <p:nvPr/>
        </p:nvSpPr>
        <p:spPr>
          <a:xfrm>
            <a:off x="6400800" y="1152144"/>
            <a:ext cx="274320" cy="274320"/>
          </a:xfrm>
          <a:prstGeom prst="ellipse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1133856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第二级 · 文献树八分支</a:t>
            </a:r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（8）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6688" y="1463039"/>
            <a:ext cx="1728216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新增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A–H 八个分支：身份 / 结构 / 替代 / 路线 / 变量 / 表征 / 失败 / 配方篮子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9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证据包 taxonomy.md §2，按 MECE 规则切分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挂法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挂在中心，每个分支占一个扇区；从这一级起，已展开的级收缩为圆点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39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8 张分支卡片；上一级已缩成圆点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58768"/>
            <a:ext cx="5623560" cy="2633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deck_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4242816"/>
            <a:ext cx="3566160" cy="177393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20" name="Oval 19"/>
          <p:cNvSpPr/>
          <p:nvPr/>
        </p:nvSpPr>
        <p:spPr>
          <a:xfrm>
            <a:off x="521208" y="3931920"/>
            <a:ext cx="274320" cy="274320"/>
          </a:xfrm>
          <a:prstGeom prst="ellipse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13631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第三级 · 叶节点</a:t>
            </a:r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（35）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7096" y="4242816"/>
            <a:ext cx="1728216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新增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35 个叶节点，每个是一类证据主张，带证据等级与支撑文献数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9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taxonomy.md 各叶的「判定 / 支撑 key」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挂法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挂在所属分支的圆点上，同一扇区内按顺序排开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607161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35 张叶卡片，颜色 = 证据等级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858768"/>
            <a:ext cx="5623560" cy="2633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deck_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42816"/>
            <a:ext cx="3566160" cy="177393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26" name="Oval 25"/>
          <p:cNvSpPr/>
          <p:nvPr/>
        </p:nvSpPr>
        <p:spPr>
          <a:xfrm>
            <a:off x="6400800" y="3931920"/>
            <a:ext cx="274320" cy="274320"/>
          </a:xfrm>
          <a:prstGeom prst="ellipse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3913631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第四级 · 文献</a:t>
            </a:r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（51）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8" y="4242816"/>
            <a:ext cx="1728216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新增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51 篇全部通过引用闸门的文献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9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references.bib + papers.jsonl（DOI、题名、年份、期刊）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挂法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挂在它支撑的第一个叶节点；颜色 = 证据距离，实心橙是唯一的目标相直接报道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07161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51 张文献卡片，两车道砖形排布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5960" y="287655"/>
            <a:ext cx="11329670" cy="482600"/>
          </a:xfrm>
        </p:spPr>
        <p:txBody>
          <a:bodyPr/>
          <a:lstStyle/>
          <a:p>
            <a:r>
              <a:rPr kumimoji="1" lang="zh-CN" altLang="en-US" sz="2800" b="1" dirty="0">
                <a:solidFill>
                  <a:schemeClr val="tx1"/>
                </a:solidFill>
              </a:rPr>
              <a:t>逐层展开：第五到第八级</a:t>
            </a:r>
            <a:endParaRPr kumimoji="1" lang="zh-CN" alt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0" y="220345"/>
            <a:ext cx="42037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24510" y="220345"/>
            <a:ext cx="171450" cy="617220"/>
          </a:xfrm>
          <a:prstGeom prst="rect">
            <a:avLst/>
          </a:prstGeom>
          <a:solidFill>
            <a:srgbClr val="0356C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5623560" cy="2633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deck_L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463039"/>
            <a:ext cx="3566160" cy="177393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8" name="Oval 7"/>
          <p:cNvSpPr/>
          <p:nvPr/>
        </p:nvSpPr>
        <p:spPr>
          <a:xfrm>
            <a:off x="521208" y="1152144"/>
            <a:ext cx="274320" cy="274320"/>
          </a:xfrm>
          <a:prstGeom prst="ellipse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133856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第五级 · 元素与化合物</a:t>
            </a:r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（41）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7096" y="1463039"/>
            <a:ext cx="1728216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新增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12 个元素 + 29 个化合物 / 相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9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条件总表产物字段与人工别名表；元素由化学式解析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挂法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挂在定义它的叶节点或分支；紫色虚线 = AI 假设目标，尚未合成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3291839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元素小卡 + 化合物卡，紫虚线为假设目标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078992"/>
            <a:ext cx="5623560" cy="2633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deck_L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463039"/>
            <a:ext cx="3566160" cy="177393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14" name="Oval 13"/>
          <p:cNvSpPr/>
          <p:nvPr/>
        </p:nvSpPr>
        <p:spPr>
          <a:xfrm>
            <a:off x="6400800" y="1152144"/>
            <a:ext cx="274320" cy="274320"/>
          </a:xfrm>
          <a:prstGeom prst="ellipse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1133856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第六级 · 合成路线与条件记录</a:t>
            </a:r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（35）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6688" y="1463039"/>
            <a:ext cx="1728216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新增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6 条路线 + 29 条逐字段条件记录（A1、B1–B6、C1–C22）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9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论文 §3 合成条件总表，逐单元格转成卡片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挂法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记录挂在自己的路线圆点上；副标题 = 温度–时间，角标 = A / B / C 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91839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路线（深青）与 29 条条件记录（A/B/C 区）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858768"/>
            <a:ext cx="5623560" cy="2633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deck_L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4242816"/>
            <a:ext cx="3566160" cy="177393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20" name="Oval 19"/>
          <p:cNvSpPr/>
          <p:nvPr/>
        </p:nvSpPr>
        <p:spPr>
          <a:xfrm>
            <a:off x="521208" y="3931920"/>
            <a:ext cx="274320" cy="274320"/>
          </a:xfrm>
          <a:prstGeom prst="ellipse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13631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第七级 · 结论 · 实验方向 · 证据缺口</a:t>
            </a:r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（16）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7096" y="4242816"/>
            <a:ext cx="1728216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新增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4 条综述结论 + 4 个 AI 实验方向 + 8 条证据缺口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9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claim_evidence.jsonl §7、ideas/experiment_directions.md、taxonomy §5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挂法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挂在 H 配方篮子 / G 失败边界分支；实心橙 = 结论，紫虚线 = AI，灰虚线 = 未闭合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607161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结论（橙）· 方向（紫虚线）· 缺口（灰虚线）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91072" y="3858768"/>
            <a:ext cx="5623560" cy="26334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deck_L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242816"/>
            <a:ext cx="3566160" cy="1773936"/>
          </a:xfrm>
          <a:prstGeom prst="rect">
            <a:avLst/>
          </a:prstGeom>
          <a:ln w="9525">
            <a:solidFill>
              <a:srgbClr val="D7DEE6"/>
            </a:solidFill>
          </a:ln>
        </p:spPr>
      </p:pic>
      <p:sp>
        <p:nvSpPr>
          <p:cNvPr id="26" name="Oval 25"/>
          <p:cNvSpPr/>
          <p:nvPr/>
        </p:nvSpPr>
        <p:spPr>
          <a:xfrm>
            <a:off x="6400800" y="3931920"/>
            <a:ext cx="274320" cy="274320"/>
          </a:xfrm>
          <a:prstGeom prst="ellipse">
            <a:avLst/>
          </a:prstGeom>
          <a:solidFill>
            <a:srgbClr val="154A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48272" y="3913631"/>
            <a:ext cx="507492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154A97"/>
                </a:solidFill>
                <a:latin typeface="微软雅黑"/>
                <a:ea typeface="微软雅黑"/>
                <a:cs typeface="微软雅黑"/>
              </a:rPr>
              <a:t>第八级 · 长出的新树</a:t>
            </a:r>
            <a:r>
              <a:rPr sz="110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（12）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8" y="4242816"/>
            <a:ext cx="1728216" cy="21762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新增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RECIPE 首选前驱体组合 3 + OpenLab 工作流 5 + 同根调研 4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来源  </a:t>
            </a:r>
            <a:r>
              <a:rPr sz="9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precursor_predictions.md、站点 showcase、补充案例 ledger</a:t>
            </a:r>
          </a:p>
          <a:p>
            <a:pPr algn="l">
              <a:lnSpc>
                <a:spcPct val="118000"/>
              </a:lnSpc>
            </a:pPr>
            <a:r>
              <a:rPr sz="950" b="1">
                <a:solidFill>
                  <a:srgbClr val="156082"/>
                </a:solidFill>
                <a:latin typeface="微软雅黑"/>
                <a:ea typeface="微软雅黑"/>
                <a:cs typeface="微软雅黑"/>
              </a:rPr>
              <a:t>挂法  </a:t>
            </a:r>
            <a:r>
              <a:rPr sz="950" b="0">
                <a:solidFill>
                  <a:srgbClr val="13202C"/>
                </a:solidFill>
                <a:latin typeface="微软雅黑"/>
                <a:ea typeface="微软雅黑"/>
                <a:cs typeface="微软雅黑"/>
              </a:rPr>
              <a:t>挂在 E / D / A 分支；紫 = 模型预测（未验证），深青 = 仿真工作流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07161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5A6A7A"/>
                </a:solidFill>
                <a:latin typeface="微软雅黑"/>
                <a:ea typeface="微软雅黑"/>
                <a:cs typeface="微软雅黑"/>
              </a:rPr>
              <a:t>预测（紫）· 工作流（深青）· 案例（描边）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4328</Words>
  <Application>WPS 演示</Application>
  <PresentationFormat>宽屏</PresentationFormat>
  <Paragraphs>308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9" baseType="lpstr">
      <vt:lpstr>Arial</vt:lpstr>
      <vt:lpstr>宋体</vt:lpstr>
      <vt:lpstr>Wingdings</vt:lpstr>
      <vt:lpstr>OPPOSans B</vt:lpstr>
      <vt:lpstr>苹方-简</vt:lpstr>
      <vt:lpstr>OPPOSans M</vt:lpstr>
      <vt:lpstr>微软雅黑</vt:lpstr>
      <vt:lpstr>方正雅意黑 GB18030L2</vt:lpstr>
      <vt:lpstr>宋体</vt:lpstr>
      <vt:lpstr>Arial Unicode MS</vt:lpstr>
      <vt:lpstr>等线 Light</vt:lpstr>
      <vt:lpstr>汉仪中等线KW</vt:lpstr>
      <vt:lpstr>等线</vt:lpstr>
      <vt:lpstr>Calibri</vt:lpstr>
      <vt:lpstr>Helvetica Neue</vt:lpstr>
      <vt:lpstr>汉仪书宋二KW</vt:lpstr>
      <vt:lpstr>OPPOSans B</vt:lpstr>
      <vt:lpstr>OPPOSans M</vt:lpstr>
      <vt:lpstr>Segoe UI</vt:lpstr>
      <vt:lpstr>Thonburi</vt:lpstr>
      <vt:lpstr>微软雅黑</vt:lpstr>
      <vt:lpstr>Times New Roman</vt:lpstr>
      <vt:lpstr>Arial</vt:lpstr>
      <vt:lpstr>Helvetica Neue Medium</vt:lpstr>
      <vt:lpstr>Helvetica Neue Medium</vt:lpstr>
      <vt:lpstr>Segoe UI</vt:lpstr>
      <vt:lpstr>微软雅黑</vt:lpstr>
      <vt:lpstr>OPPOSans</vt:lpstr>
      <vt:lpstr>Tahoma</vt:lpstr>
      <vt:lpstr>思源黑体 Light</vt:lpstr>
      <vt:lpstr>汉仪中黑KW</vt:lpstr>
      <vt:lpstr>Office 主题​​</vt:lpstr>
      <vt:lpstr>PowerPoint 演示文稿</vt:lpstr>
      <vt:lpstr>PowerPoint 演示文稿</vt:lpstr>
      <vt:lpstr>PowerPoint 演示文稿</vt:lpstr>
      <vt:lpstr>内页标题文案预留内页标题文案预留 Inner Page Title Placeholder</vt:lpstr>
      <vt:lpstr>自动化实验室需要可用的合成知识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自动化实验室的真正价值：随实验迭代的知识闭环</vt:lpstr>
      <vt:lpstr>元素（可用做背景装饰） Decorative Elements (for Background Use)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Benshun Yin</dc:creator>
  <cp:lastModifiedBy>吕丁阳</cp:lastModifiedBy>
  <cp:revision>68</cp:revision>
  <dcterms:created xsi:type="dcterms:W3CDTF">2026-09-17T09:10:26Z</dcterms:created>
  <dcterms:modified xsi:type="dcterms:W3CDTF">2026-09-17T09:10:26Z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B8BE9F4AE3199E69D309A96AD4C8C264_42</vt:lpwstr>
  </property>
  <property fmtid="{D5CDD505-2E9C-101B-9397-08002B2CF9AE}" pid="3" name="KSOProductBuildVer">
    <vt:lpwstr>2052-12.1.26046.26046</vt:lpwstr>
  </property>
</Properties>
</file>