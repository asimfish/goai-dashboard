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合成方案页：左 LLZO 输入任务 + 正式稿缩略图 + 数字卡；右 BYZSO 五步纵向流程（编号徽章串主线）+ 结论条（round 4, deck theme）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ask" descr="Editable shape; source id task"/>
          <p:cNvSpPr/>
          <p:nvPr/>
        </p:nvSpPr>
        <p:spPr>
          <a:xfrm>
            <a:off x="317499" y="936624"/>
            <a:ext cx="5238749" cy="1190624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49">
            <a:solidFill>
              <a:srgbClr val="154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sk_b" descr="Editable shape; source id task_b"/>
          <p:cNvSpPr/>
          <p:nvPr/>
        </p:nvSpPr>
        <p:spPr>
          <a:xfrm>
            <a:off x="428624" y="1031874"/>
            <a:ext cx="1508124" cy="238124"/>
          </a:xfrm>
          <a:prstGeom prst="roundRect">
            <a:avLst>
              <a:gd name="adj" fmla="val 50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sk_bt" descr="Editable text; source id task_bt"/>
          <p:cNvSpPr txBox="1"/>
          <p:nvPr/>
        </p:nvSpPr>
        <p:spPr>
          <a:xfrm>
            <a:off x="428624" y="1031874"/>
            <a:ext cx="150812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输入任务</a:t>
            </a:r>
            <a:r>
              <a:rPr sz="937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· LLZO </a:t>
            </a:r>
            <a:r>
              <a:rPr sz="93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案例</a:t>
            </a:r>
          </a:p>
        </p:txBody>
      </p:sp>
      <p:sp>
        <p:nvSpPr>
          <p:cNvPr id="5" name="task_q" descr="Editable text; source id task_q"/>
          <p:cNvSpPr txBox="1"/>
          <p:nvPr/>
        </p:nvSpPr>
        <p:spPr>
          <a:xfrm>
            <a:off x="444499" y="1333499"/>
            <a:ext cx="4984749" cy="73024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"LLZO garnet solid electrolytes: synthesis, densification, </a:t>
            </a:r>
          </a:p>
          <a:p>
            <a:pPr algn="l" fontAlgn="base">
              <a:lnSpc>
                <a:spcPts val="1603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and processing–structure–ionic-conductivity </a:t>
            </a:r>
          </a:p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relationships"</a:t>
            </a:r>
            <a:r>
              <a:rPr sz="118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18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一行输入，交出</a:t>
            </a:r>
            <a:r>
              <a:rPr sz="118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87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rPr>
              <a:t>16 </a:t>
            </a:r>
            <a:r>
              <a:rPr sz="1187" b="1" i="0" lang="zh-CN" dirty="0">
                <a:solidFill>
                  <a:srgbClr val="E97132"/>
                </a:solidFill>
                <a:latin typeface="Noto Sans CJK SC"/>
                <a:ea typeface="Noto Sans CJK SC"/>
                <a:cs typeface="Noto Sans CJK SC"/>
              </a:rPr>
              <a:t>页正式稿</a:t>
            </a:r>
          </a:p>
        </p:txBody>
      </p:sp>
      <p:sp>
        <p:nvSpPr>
          <p:cNvPr id="6" name="thumb_f" descr="Editable shape; source id thumb_f"/>
          <p:cNvSpPr/>
          <p:nvPr/>
        </p:nvSpPr>
        <p:spPr>
          <a:xfrm>
            <a:off x="317499" y="2270124"/>
            <a:ext cx="2793999" cy="3952874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thumb" descr="page 1 of submission/03_运行与评测包/LLZO诊断轮/最终输出/main.pdf rendered with pypdfium2 (the delivered 16-page report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4" y="2500489"/>
            <a:ext cx="2698749" cy="3492146"/>
          </a:xfrm>
          <a:prstGeom prst="rect">
            <a:avLst/>
          </a:prstGeom>
          <a:effectLst/>
        </p:spPr>
      </p:pic>
      <p:sp>
        <p:nvSpPr>
          <p:cNvPr id="8" name="thumb_c" descr="Editable text; source id thumb_c"/>
          <p:cNvSpPr txBox="1"/>
          <p:nvPr/>
        </p:nvSpPr>
        <p:spPr>
          <a:xfrm>
            <a:off x="317499" y="6270624"/>
            <a:ext cx="2793999" cy="190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正式稿首页（仓库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LLZO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诊断轮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最终输出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/main.pdf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）</a:t>
            </a:r>
          </a:p>
        </p:txBody>
      </p:sp>
      <p:sp>
        <p:nvSpPr>
          <p:cNvPr id="9" name="k0" descr="Editable shape; source id k0"/>
          <p:cNvSpPr/>
          <p:nvPr/>
        </p:nvSpPr>
        <p:spPr>
          <a:xfrm>
            <a:off x="3270249" y="2270124"/>
            <a:ext cx="2285999" cy="825499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0_r" descr="Editable shape; source id k0_r"/>
          <p:cNvSpPr/>
          <p:nvPr/>
        </p:nvSpPr>
        <p:spPr>
          <a:xfrm>
            <a:off x="3270249" y="2270124"/>
            <a:ext cx="2285999" cy="39687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0_b" descr="Editable text; source id k0_b"/>
          <p:cNvSpPr txBox="1"/>
          <p:nvPr/>
        </p:nvSpPr>
        <p:spPr>
          <a:xfrm>
            <a:off x="3397249" y="2333624"/>
            <a:ext cx="817562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8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8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212</a:t>
            </a:r>
          </a:p>
        </p:txBody>
      </p:sp>
      <p:sp>
        <p:nvSpPr>
          <p:cNvPr id="12" name="k0_u" descr="Editable text; source id k0_u"/>
          <p:cNvSpPr txBox="1"/>
          <p:nvPr/>
        </p:nvSpPr>
        <p:spPr>
          <a:xfrm>
            <a:off x="4278312" y="2476499"/>
            <a:ext cx="1198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篇参考文献</a:t>
            </a:r>
          </a:p>
        </p:txBody>
      </p:sp>
      <p:sp>
        <p:nvSpPr>
          <p:cNvPr id="13" name="k0_c" descr="Editable text; source id k0_c"/>
          <p:cNvSpPr txBox="1"/>
          <p:nvPr/>
        </p:nvSpPr>
        <p:spPr>
          <a:xfrm>
            <a:off x="4278312" y="2730499"/>
            <a:ext cx="119856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逐条核验通过</a:t>
            </a:r>
          </a:p>
        </p:txBody>
      </p:sp>
      <p:sp>
        <p:nvSpPr>
          <p:cNvPr id="14" name="k1" descr="Editable shape; source id k1"/>
          <p:cNvSpPr/>
          <p:nvPr/>
        </p:nvSpPr>
        <p:spPr>
          <a:xfrm>
            <a:off x="3270249" y="3206749"/>
            <a:ext cx="2285999" cy="825499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1_r" descr="Editable shape; source id k1_r"/>
          <p:cNvSpPr/>
          <p:nvPr/>
        </p:nvSpPr>
        <p:spPr>
          <a:xfrm>
            <a:off x="3270249" y="3206749"/>
            <a:ext cx="2285999" cy="39687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1_b" descr="Editable text; source id k1_b"/>
          <p:cNvSpPr txBox="1"/>
          <p:nvPr/>
        </p:nvSpPr>
        <p:spPr>
          <a:xfrm>
            <a:off x="3397249" y="3270249"/>
            <a:ext cx="817562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8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8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219</a:t>
            </a:r>
          </a:p>
        </p:txBody>
      </p:sp>
      <p:sp>
        <p:nvSpPr>
          <p:cNvPr id="17" name="k1_u" descr="Editable text; source id k1_u"/>
          <p:cNvSpPr txBox="1"/>
          <p:nvPr/>
        </p:nvSpPr>
        <p:spPr>
          <a:xfrm>
            <a:off x="4278312" y="3413124"/>
            <a:ext cx="1198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次引用</a:t>
            </a:r>
          </a:p>
        </p:txBody>
      </p:sp>
      <p:sp>
        <p:nvSpPr>
          <p:cNvPr id="18" name="k1_c" descr="Editable text; source id k1_c"/>
          <p:cNvSpPr txBox="1"/>
          <p:nvPr/>
        </p:nvSpPr>
        <p:spPr>
          <a:xfrm>
            <a:off x="4278312" y="3667124"/>
            <a:ext cx="1198562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整合率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100%</a:t>
            </a:r>
          </a:p>
        </p:txBody>
      </p:sp>
      <p:sp>
        <p:nvSpPr>
          <p:cNvPr id="19" name="k2" descr="Editable shape; source id k2"/>
          <p:cNvSpPr/>
          <p:nvPr/>
        </p:nvSpPr>
        <p:spPr>
          <a:xfrm>
            <a:off x="3270249" y="4143374"/>
            <a:ext cx="2285999" cy="825499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2_r" descr="Editable shape; source id k2_r"/>
          <p:cNvSpPr/>
          <p:nvPr/>
        </p:nvSpPr>
        <p:spPr>
          <a:xfrm>
            <a:off x="3270249" y="4143374"/>
            <a:ext cx="2285999" cy="39687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2_b" descr="Editable text; source id k2_b"/>
          <p:cNvSpPr txBox="1"/>
          <p:nvPr/>
        </p:nvSpPr>
        <p:spPr>
          <a:xfrm>
            <a:off x="3397249" y="4206874"/>
            <a:ext cx="579437" cy="730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359"/>
              </a:lnSpc>
              <a:spcBef>
                <a:spcPts val="0"/>
              </a:spcBef>
              <a:spcAft>
                <a:spcPts val="0"/>
              </a:spcAft>
              <a:defRPr sz="28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defRPr>
            </a:pPr>
            <a:r>
              <a:rPr sz="2874" b="1" i="0" lang="zh-CN" dirty="0">
                <a:solidFill>
                  <a:srgbClr val="156082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22" name="k2_u" descr="Editable text; source id k2_u"/>
          <p:cNvSpPr txBox="1"/>
          <p:nvPr/>
        </p:nvSpPr>
        <p:spPr>
          <a:xfrm>
            <a:off x="4040187" y="4349749"/>
            <a:ext cx="1436687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页正式稿</a:t>
            </a:r>
          </a:p>
        </p:txBody>
      </p:sp>
      <p:sp>
        <p:nvSpPr>
          <p:cNvPr id="23" name="k2_c" descr="Editable text; source id k2_c"/>
          <p:cNvSpPr txBox="1"/>
          <p:nvPr/>
        </p:nvSpPr>
        <p:spPr>
          <a:xfrm>
            <a:off x="4040187" y="4603749"/>
            <a:ext cx="1436687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一行输入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综述</a:t>
            </a:r>
          </a:p>
        </p:txBody>
      </p:sp>
      <p:sp>
        <p:nvSpPr>
          <p:cNvPr id="24" name="note" descr="Editable shape; source id note"/>
          <p:cNvSpPr/>
          <p:nvPr/>
        </p:nvSpPr>
        <p:spPr>
          <a:xfrm>
            <a:off x="3270249" y="5079999"/>
            <a:ext cx="2285999" cy="1142999"/>
          </a:xfrm>
          <a:prstGeom prst="roundRect">
            <a:avLst>
              <a:gd name="adj" fmla="val 8333"/>
            </a:avLst>
          </a:prstGeom>
          <a:solidFill>
            <a:srgbClr val="E6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ote_t" descr="Editable text; source id note_t"/>
          <p:cNvSpPr txBox="1"/>
          <p:nvPr/>
        </p:nvSpPr>
        <p:spPr>
          <a:xfrm>
            <a:off x="3381374" y="5143499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54A97"/>
                </a:solidFill>
                <a:latin typeface="Noto Sans CJK SC"/>
                <a:ea typeface="Noto Sans CJK SC"/>
                <a:cs typeface="Noto Sans CJK SC"/>
              </a:rPr>
              <a:t>同一套回环，两个案例</a:t>
            </a:r>
          </a:p>
        </p:txBody>
      </p:sp>
      <p:sp>
        <p:nvSpPr>
          <p:cNvPr id="26" name="note_l0" descr="Editable text; source id note_l0"/>
          <p:cNvSpPr txBox="1"/>
          <p:nvPr/>
        </p:nvSpPr>
        <p:spPr>
          <a:xfrm>
            <a:off x="3381374" y="5381624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LLZO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：文献多、条件难比</a:t>
            </a: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工艺窗口</a:t>
            </a:r>
          </a:p>
        </p:txBody>
      </p:sp>
      <p:sp>
        <p:nvSpPr>
          <p:cNvPr id="27" name="note_l1" descr="Editable text; source id note_l1"/>
          <p:cNvSpPr txBox="1"/>
          <p:nvPr/>
        </p:nvSpPr>
        <p:spPr>
          <a:xfrm>
            <a:off x="3381374" y="5619749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BYZSO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：直接证据少</a:t>
            </a: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近邻体系迁移</a:t>
            </a:r>
          </a:p>
        </p:txBody>
      </p:sp>
      <p:sp>
        <p:nvSpPr>
          <p:cNvPr id="28" name="note_l2" descr="Editable text; source id note_l2"/>
          <p:cNvSpPr txBox="1"/>
          <p:nvPr/>
        </p:nvSpPr>
        <p:spPr>
          <a:xfrm>
            <a:off x="3381374" y="5857874"/>
            <a:ext cx="2063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右侧为</a:t>
            </a:r>
            <a:r>
              <a:rPr sz="874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BYZSO </a:t>
            </a:r>
            <a:r>
              <a:rPr sz="874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正式案例的运行轨迹</a:t>
            </a:r>
          </a:p>
        </p:txBody>
      </p:sp>
      <p:sp>
        <p:nvSpPr>
          <p:cNvPr id="29" name="hl_bar" descr="Editable shape; source id hl_bar"/>
          <p:cNvSpPr/>
          <p:nvPr/>
        </p:nvSpPr>
        <p:spPr>
          <a:xfrm>
            <a:off x="5746749" y="936624"/>
            <a:ext cx="4278312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l" descr="Editable text; source id hl"/>
          <p:cNvSpPr txBox="1"/>
          <p:nvPr/>
        </p:nvSpPr>
        <p:spPr>
          <a:xfrm>
            <a:off x="5889624" y="936624"/>
            <a:ext cx="3992562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Agent </a:t>
            </a:r>
            <a:r>
              <a: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多轮优化迭代</a:t>
            </a:r>
            <a:r>
              <a:rPr sz="162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· BYZSO </a:t>
            </a:r>
            <a:r>
              <a: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正式案例</a:t>
            </a:r>
          </a:p>
        </p:txBody>
      </p:sp>
      <p:cxnSp>
        <p:nvCxnSpPr>
          <p:cNvPr id="31" name="spine" descr="Editable line; source id spine"/>
          <p:cNvCxnSpPr/>
          <p:nvPr/>
        </p:nvCxnSpPr>
        <p:spPr>
          <a:xfrm>
            <a:off x="6032499" y="1587499"/>
            <a:ext cx="0" cy="4032250"/>
          </a:xfrm>
          <a:prstGeom prst="line">
            <a:avLst/>
          </a:prstGeom>
          <a:ln w="31749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t0_sh" descr="Editable shape; source id st0_sh"/>
          <p:cNvSpPr/>
          <p:nvPr/>
        </p:nvSpPr>
        <p:spPr>
          <a:xfrm>
            <a:off x="6334124" y="1468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0" descr="Editable shape; source id st0"/>
          <p:cNvSpPr/>
          <p:nvPr/>
        </p:nvSpPr>
        <p:spPr>
          <a:xfrm>
            <a:off x="6318249" y="1428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0_bar" descr="Editable shape; source id st0_bar"/>
          <p:cNvSpPr/>
          <p:nvPr/>
        </p:nvSpPr>
        <p:spPr>
          <a:xfrm>
            <a:off x="6318249" y="1523999"/>
            <a:ext cx="47624" cy="603249"/>
          </a:xfrm>
          <a:prstGeom prst="rect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st0_art" descr="cropped from the image-model asset sheet, cell &quot;orchestrator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536" y="1508124"/>
            <a:ext cx="574176" cy="634999"/>
          </a:xfrm>
          <a:prstGeom prst="rect">
            <a:avLst/>
          </a:prstGeom>
          <a:effectLst/>
        </p:spPr>
      </p:pic>
      <p:sp>
        <p:nvSpPr>
          <p:cNvPr id="36" name="st0_t" descr="Editable text; source id st0_t"/>
          <p:cNvSpPr txBox="1"/>
          <p:nvPr/>
        </p:nvSpPr>
        <p:spPr>
          <a:xfrm>
            <a:off x="7191374" y="1508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编排与任务分派</a:t>
            </a:r>
          </a:p>
        </p:txBody>
      </p:sp>
      <p:sp>
        <p:nvSpPr>
          <p:cNvPr id="37" name="st0_l0" descr="Editable text; source id st0_l0"/>
          <p:cNvSpPr txBox="1"/>
          <p:nvPr/>
        </p:nvSpPr>
        <p:spPr>
          <a:xfrm>
            <a:off x="7191374" y="1762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顶层编排器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次调用（首轮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+ 4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次人工停点续跑）</a:t>
            </a:r>
          </a:p>
        </p:txBody>
      </p:sp>
      <p:sp>
        <p:nvSpPr>
          <p:cNvPr id="38" name="st0_l1" descr="Editable text; source id st0_l1"/>
          <p:cNvSpPr txBox="1"/>
          <p:nvPr/>
        </p:nvSpPr>
        <p:spPr>
          <a:xfrm>
            <a:off x="7191374" y="1968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29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批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/ 40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项子任务并行执行</a:t>
            </a:r>
          </a:p>
        </p:txBody>
      </p:sp>
      <p:sp>
        <p:nvSpPr>
          <p:cNvPr id="39" name="st0_b" descr="Editable shape; source id st0_b"/>
          <p:cNvSpPr/>
          <p:nvPr/>
        </p:nvSpPr>
        <p:spPr>
          <a:xfrm>
            <a:off x="5841999" y="1635124"/>
            <a:ext cx="380999" cy="380999"/>
          </a:xfrm>
          <a:prstGeom prst="ellipse">
            <a:avLst/>
          </a:prstGeom>
          <a:solidFill>
            <a:srgbClr val="154A97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t0_n" descr="Editable text; source id st0_n"/>
          <p:cNvSpPr txBox="1"/>
          <p:nvPr/>
        </p:nvSpPr>
        <p:spPr>
          <a:xfrm>
            <a:off x="5897562" y="1690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cxnSp>
        <p:nvCxnSpPr>
          <p:cNvPr id="41" name="f0_0" descr="Editable line; source id f0_0"/>
          <p:cNvCxnSpPr/>
          <p:nvPr/>
        </p:nvCxnSpPr>
        <p:spPr>
          <a:xfrm>
            <a:off x="6238874" y="1825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t1_sh" descr="Editable shape; source id st1_sh"/>
          <p:cNvSpPr/>
          <p:nvPr/>
        </p:nvSpPr>
        <p:spPr>
          <a:xfrm>
            <a:off x="6334124" y="2357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1" descr="Editable shape; source id st1"/>
          <p:cNvSpPr/>
          <p:nvPr/>
        </p:nvSpPr>
        <p:spPr>
          <a:xfrm>
            <a:off x="6318249" y="2317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1_bar" descr="Editable shape; source id st1_bar"/>
          <p:cNvSpPr/>
          <p:nvPr/>
        </p:nvSpPr>
        <p:spPr>
          <a:xfrm>
            <a:off x="6318249" y="2412999"/>
            <a:ext cx="47624" cy="603249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st1_art" descr="cropped from the image-model asset sheet, cell &quot;refguard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24" y="2489224"/>
            <a:ext cx="634999" cy="450801"/>
          </a:xfrm>
          <a:prstGeom prst="rect">
            <a:avLst/>
          </a:prstGeom>
          <a:effectLst/>
        </p:spPr>
      </p:pic>
      <p:sp>
        <p:nvSpPr>
          <p:cNvPr id="46" name="st1_t" descr="Editable text; source id st1_t"/>
          <p:cNvSpPr txBox="1"/>
          <p:nvPr/>
        </p:nvSpPr>
        <p:spPr>
          <a:xfrm>
            <a:off x="7191374" y="2397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文献入库与引用核验</a:t>
            </a:r>
          </a:p>
        </p:txBody>
      </p:sp>
      <p:sp>
        <p:nvSpPr>
          <p:cNvPr id="47" name="st1_l0" descr="Editable text; source id st1_l0"/>
          <p:cNvSpPr txBox="1"/>
          <p:nvPr/>
        </p:nvSpPr>
        <p:spPr>
          <a:xfrm>
            <a:off x="7191374" y="2651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63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条候选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51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篇入库：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11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条无法核验移除、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1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条重复合并</a:t>
            </a:r>
          </a:p>
        </p:txBody>
      </p:sp>
      <p:sp>
        <p:nvSpPr>
          <p:cNvPr id="48" name="st1_l1" descr="Editable text; source id st1_l1"/>
          <p:cNvSpPr txBox="1"/>
          <p:nvPr/>
        </p:nvSpPr>
        <p:spPr>
          <a:xfrm>
            <a:off x="7191374" y="2857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5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条作者不一致经归一化与人工裁定后保留</a:t>
            </a:r>
          </a:p>
        </p:txBody>
      </p:sp>
      <p:sp>
        <p:nvSpPr>
          <p:cNvPr id="49" name="st1_b" descr="Editable shape; source id st1_b"/>
          <p:cNvSpPr/>
          <p:nvPr/>
        </p:nvSpPr>
        <p:spPr>
          <a:xfrm>
            <a:off x="5841999" y="2524124"/>
            <a:ext cx="380999" cy="380999"/>
          </a:xfrm>
          <a:prstGeom prst="ellipse">
            <a:avLst/>
          </a:prstGeom>
          <a:solidFill>
            <a:srgbClr val="156082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1_n" descr="Editable text; source id st1_n"/>
          <p:cNvSpPr txBox="1"/>
          <p:nvPr/>
        </p:nvSpPr>
        <p:spPr>
          <a:xfrm>
            <a:off x="5897562" y="2579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cxnSp>
        <p:nvCxnSpPr>
          <p:cNvPr id="51" name="f1_0" descr="Editable line; source id f1_0"/>
          <p:cNvCxnSpPr/>
          <p:nvPr/>
        </p:nvCxnSpPr>
        <p:spPr>
          <a:xfrm>
            <a:off x="6238874" y="2714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t2_sh" descr="Editable shape; source id st2_sh"/>
          <p:cNvSpPr/>
          <p:nvPr/>
        </p:nvSpPr>
        <p:spPr>
          <a:xfrm>
            <a:off x="6334124" y="3246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2" descr="Editable shape; source id st2"/>
          <p:cNvSpPr/>
          <p:nvPr/>
        </p:nvSpPr>
        <p:spPr>
          <a:xfrm>
            <a:off x="6318249" y="3206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2_bar" descr="Editable shape; source id st2_bar"/>
          <p:cNvSpPr/>
          <p:nvPr/>
        </p:nvSpPr>
        <p:spPr>
          <a:xfrm>
            <a:off x="6318249" y="3301999"/>
            <a:ext cx="47624" cy="60324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st2_art" descr="cropped from the image-model asset sheet, cell &quot;reviewer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124" y="3308984"/>
            <a:ext cx="634999" cy="589279"/>
          </a:xfrm>
          <a:prstGeom prst="rect">
            <a:avLst/>
          </a:prstGeom>
          <a:effectLst/>
        </p:spPr>
      </p:pic>
      <p:sp>
        <p:nvSpPr>
          <p:cNvPr id="56" name="st2_t" descr="Editable text; source id st2_t"/>
          <p:cNvSpPr txBox="1"/>
          <p:nvPr/>
        </p:nvSpPr>
        <p:spPr>
          <a:xfrm>
            <a:off x="7191374" y="3286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两轮交叉评审</a:t>
            </a:r>
          </a:p>
        </p:txBody>
      </p:sp>
      <p:sp>
        <p:nvSpPr>
          <p:cNvPr id="57" name="st2_l0" descr="Editable text; source id st2_l0"/>
          <p:cNvSpPr txBox="1"/>
          <p:nvPr/>
        </p:nvSpPr>
        <p:spPr>
          <a:xfrm>
            <a:off x="7191374" y="3540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首轮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项问题定向返修（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1 blocker · 3 major · 1 minor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）</a:t>
            </a:r>
          </a:p>
        </p:txBody>
      </p:sp>
      <p:sp>
        <p:nvSpPr>
          <p:cNvPr id="58" name="st2_l1" descr="Editable text; source id st2_l1"/>
          <p:cNvSpPr txBox="1"/>
          <p:nvPr/>
        </p:nvSpPr>
        <p:spPr>
          <a:xfrm>
            <a:off x="7191374" y="3746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终审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2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项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minor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当轮关闭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review_pass</a:t>
            </a:r>
          </a:p>
        </p:txBody>
      </p:sp>
      <p:sp>
        <p:nvSpPr>
          <p:cNvPr id="59" name="st2_b" descr="Editable shape; source id st2_b"/>
          <p:cNvSpPr/>
          <p:nvPr/>
        </p:nvSpPr>
        <p:spPr>
          <a:xfrm>
            <a:off x="5841999" y="3413124"/>
            <a:ext cx="380999" cy="380999"/>
          </a:xfrm>
          <a:prstGeom prst="ellipse">
            <a:avLst/>
          </a:prstGeom>
          <a:solidFill>
            <a:srgbClr val="F59E0B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t2_n" descr="Editable text; source id st2_n"/>
          <p:cNvSpPr txBox="1"/>
          <p:nvPr/>
        </p:nvSpPr>
        <p:spPr>
          <a:xfrm>
            <a:off x="5897562" y="3468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cxnSp>
        <p:nvCxnSpPr>
          <p:cNvPr id="61" name="f2_0" descr="Editable line; source id f2_0"/>
          <p:cNvCxnSpPr/>
          <p:nvPr/>
        </p:nvCxnSpPr>
        <p:spPr>
          <a:xfrm>
            <a:off x="6238874" y="3603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t3_sh" descr="Editable shape; source id st3_sh"/>
          <p:cNvSpPr/>
          <p:nvPr/>
        </p:nvSpPr>
        <p:spPr>
          <a:xfrm>
            <a:off x="6334124" y="4135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t3" descr="Editable shape; source id st3"/>
          <p:cNvSpPr/>
          <p:nvPr/>
        </p:nvSpPr>
        <p:spPr>
          <a:xfrm>
            <a:off x="6318249" y="4095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t3_bar" descr="Editable shape; source id st3_bar"/>
          <p:cNvSpPr/>
          <p:nvPr/>
        </p:nvSpPr>
        <p:spPr>
          <a:xfrm>
            <a:off x="6318249" y="4190999"/>
            <a:ext cx="47624" cy="603249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st3_art" descr="cropped from the image-model asset sheet, cell &quot;recipe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124" y="4258149"/>
            <a:ext cx="634999" cy="468951"/>
          </a:xfrm>
          <a:prstGeom prst="rect">
            <a:avLst/>
          </a:prstGeom>
          <a:effectLst/>
        </p:spPr>
      </p:pic>
      <p:sp>
        <p:nvSpPr>
          <p:cNvPr id="66" name="st3_t" descr="Editable text; source id st3_t"/>
          <p:cNvSpPr txBox="1"/>
          <p:nvPr/>
        </p:nvSpPr>
        <p:spPr>
          <a:xfrm>
            <a:off x="7191374" y="4175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RECIPE </a:t>
            </a: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前驱体预测</a:t>
            </a:r>
          </a:p>
        </p:txBody>
      </p:sp>
      <p:sp>
        <p:nvSpPr>
          <p:cNvPr id="67" name="st3_l0" descr="Editable text; source id st3_l0"/>
          <p:cNvSpPr txBox="1"/>
          <p:nvPr/>
        </p:nvSpPr>
        <p:spPr>
          <a:xfrm>
            <a:off x="7191374" y="4429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正式报告调用前驱体预测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3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次（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Zn / Mg / Co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目标）</a:t>
            </a:r>
          </a:p>
        </p:txBody>
      </p:sp>
      <p:sp>
        <p:nvSpPr>
          <p:cNvPr id="68" name="st3_l1" descr="Editable text; source id st3_l1"/>
          <p:cNvSpPr txBox="1"/>
          <p:nvPr/>
        </p:nvSpPr>
        <p:spPr>
          <a:xfrm>
            <a:off x="7191374" y="4635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预测结果标注为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"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模型候选，待实验验证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"</a:t>
            </a:r>
          </a:p>
        </p:txBody>
      </p:sp>
      <p:sp>
        <p:nvSpPr>
          <p:cNvPr id="69" name="st3_b" descr="Editable shape; source id st3_b"/>
          <p:cNvSpPr/>
          <p:nvPr/>
        </p:nvSpPr>
        <p:spPr>
          <a:xfrm>
            <a:off x="5841999" y="4302124"/>
            <a:ext cx="380999" cy="380999"/>
          </a:xfrm>
          <a:prstGeom prst="ellipse">
            <a:avLst/>
          </a:prstGeom>
          <a:solidFill>
            <a:srgbClr val="E97132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t3_n" descr="Editable text; source id st3_n"/>
          <p:cNvSpPr txBox="1"/>
          <p:nvPr/>
        </p:nvSpPr>
        <p:spPr>
          <a:xfrm>
            <a:off x="5897562" y="4357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cxnSp>
        <p:nvCxnSpPr>
          <p:cNvPr id="71" name="f3_0" descr="Editable line; source id f3_0"/>
          <p:cNvCxnSpPr/>
          <p:nvPr/>
        </p:nvCxnSpPr>
        <p:spPr>
          <a:xfrm>
            <a:off x="6238874" y="4492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st4_sh" descr="Editable shape; source id st4_sh"/>
          <p:cNvSpPr/>
          <p:nvPr/>
        </p:nvSpPr>
        <p:spPr>
          <a:xfrm>
            <a:off x="6334124" y="5024437"/>
            <a:ext cx="5540374" cy="793749"/>
          </a:xfrm>
          <a:prstGeom prst="roundRect">
            <a:avLst>
              <a:gd name="adj" fmla="val 12000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t4" descr="Editable shape; source id st4"/>
          <p:cNvSpPr/>
          <p:nvPr/>
        </p:nvSpPr>
        <p:spPr>
          <a:xfrm>
            <a:off x="6318249" y="4984749"/>
            <a:ext cx="5556249" cy="7937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t4_bar" descr="Editable shape; source id st4_bar"/>
          <p:cNvSpPr/>
          <p:nvPr/>
        </p:nvSpPr>
        <p:spPr>
          <a:xfrm>
            <a:off x="6318249" y="5079999"/>
            <a:ext cx="47624" cy="603249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st4_art" descr="cropped from the image-model asset sheet, cell &quot;human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484" y="5064124"/>
            <a:ext cx="474280" cy="634999"/>
          </a:xfrm>
          <a:prstGeom prst="rect">
            <a:avLst/>
          </a:prstGeom>
          <a:effectLst/>
        </p:spPr>
      </p:pic>
      <p:sp>
        <p:nvSpPr>
          <p:cNvPr id="76" name="st4_t" descr="Editable text; source id st4_t"/>
          <p:cNvSpPr txBox="1"/>
          <p:nvPr/>
        </p:nvSpPr>
        <p:spPr>
          <a:xfrm>
            <a:off x="7191374" y="5064124"/>
            <a:ext cx="4540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专家反馈修订</a:t>
            </a:r>
          </a:p>
        </p:txBody>
      </p:sp>
      <p:sp>
        <p:nvSpPr>
          <p:cNvPr id="77" name="st4_l0" descr="Editable text; source id st4_l0"/>
          <p:cNvSpPr txBox="1"/>
          <p:nvPr/>
        </p:nvSpPr>
        <p:spPr>
          <a:xfrm>
            <a:off x="7191374" y="5318124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正规论文语言、同类体系单独成节、前人结论汇总</a:t>
            </a:r>
          </a:p>
        </p:txBody>
      </p:sp>
      <p:sp>
        <p:nvSpPr>
          <p:cNvPr id="78" name="st4_l1" descr="Editable text; source id st4_l1"/>
          <p:cNvSpPr txBox="1"/>
          <p:nvPr/>
        </p:nvSpPr>
        <p:spPr>
          <a:xfrm>
            <a:off x="7191374" y="5524499"/>
            <a:ext cx="454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方向落到工艺与前驱体、相图讨论、学术排版图、去除工程术语</a:t>
            </a:r>
          </a:p>
        </p:txBody>
      </p:sp>
      <p:sp>
        <p:nvSpPr>
          <p:cNvPr id="79" name="st4_b" descr="Editable shape; source id st4_b"/>
          <p:cNvSpPr/>
          <p:nvPr/>
        </p:nvSpPr>
        <p:spPr>
          <a:xfrm>
            <a:off x="5841999" y="5191124"/>
            <a:ext cx="380999" cy="380999"/>
          </a:xfrm>
          <a:prstGeom prst="ellipse">
            <a:avLst/>
          </a:prstGeom>
          <a:solidFill>
            <a:srgbClr val="12946B"/>
          </a:solidFill>
          <a:ln w="2381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t4_n" descr="Editable text; source id st4_n"/>
          <p:cNvSpPr txBox="1"/>
          <p:nvPr/>
        </p:nvSpPr>
        <p:spPr>
          <a:xfrm>
            <a:off x="5897562" y="5246687"/>
            <a:ext cx="26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cxnSp>
        <p:nvCxnSpPr>
          <p:cNvPr id="81" name="f4_0" descr="Editable line; source id f4_0"/>
          <p:cNvCxnSpPr/>
          <p:nvPr/>
        </p:nvCxnSpPr>
        <p:spPr>
          <a:xfrm>
            <a:off x="6238874" y="5381624"/>
            <a:ext cx="31750" cy="0"/>
          </a:xfrm>
          <a:prstGeom prst="line">
            <a:avLst/>
          </a:prstGeom>
          <a:ln w="15874">
            <a:solidFill>
              <a:srgbClr val="A5A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banner" descr="Editable shape; source id banner"/>
          <p:cNvSpPr/>
          <p:nvPr/>
        </p:nvSpPr>
        <p:spPr>
          <a:xfrm>
            <a:off x="5746749" y="5905499"/>
            <a:ext cx="6127749" cy="396874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anner_t" descr="Editable text; source id banner_t"/>
          <p:cNvSpPr txBox="1"/>
          <p:nvPr/>
        </p:nvSpPr>
        <p:spPr>
          <a:xfrm>
            <a:off x="5873749" y="5905499"/>
            <a:ext cx="587374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基于证据约束的</a:t>
            </a:r>
            <a:r>
              <a:rPr sz="137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Agent </a:t>
            </a:r>
            <a:r>
              <a:rPr sz="137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自循环合成方案设计</a:t>
            </a:r>
          </a:p>
        </p:txBody>
      </p:sp>
      <p:sp>
        <p:nvSpPr>
          <p:cNvPr id="84" name="fn" descr="Editable text; source id fn"/>
          <p:cNvSpPr txBox="1"/>
          <p:nvPr/>
        </p:nvSpPr>
        <p:spPr>
          <a:xfrm>
            <a:off x="317499" y="6492874"/>
            <a:ext cx="115569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¹ LLZO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（锂镧锆氧化物）石榴石型固体电解质：合成、致密化及加工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–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–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离子电导率关系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