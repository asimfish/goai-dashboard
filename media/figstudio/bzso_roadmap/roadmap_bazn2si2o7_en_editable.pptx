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714374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· Reading roadmap of this review (round 5, F02).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A" descr="Editable shape; source id zA"/>
          <p:cNvSpPr/>
          <p:nvPr/>
        </p:nvSpPr>
        <p:spPr>
          <a:xfrm>
            <a:off x="238124" y="317499"/>
            <a:ext cx="11715749" cy="3032124"/>
          </a:xfrm>
          <a:prstGeom prst="roundRect">
            <a:avLst>
              <a:gd name="adj" fmla="val 3664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A_l" descr="Editable text; source id zA_l"/>
          <p:cNvSpPr txBox="1"/>
          <p:nvPr/>
        </p:nvSpPr>
        <p:spPr>
          <a:xfrm>
            <a:off x="380999" y="396874"/>
            <a:ext cx="2595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Evidence</a:t>
            </a:r>
          </a:p>
        </p:txBody>
      </p:sp>
      <p:sp>
        <p:nvSpPr>
          <p:cNvPr id="4" name="zB" descr="Editable shape; source id zB"/>
          <p:cNvSpPr/>
          <p:nvPr/>
        </p:nvSpPr>
        <p:spPr>
          <a:xfrm>
            <a:off x="238124" y="3730624"/>
            <a:ext cx="11715749" cy="3095624"/>
          </a:xfrm>
          <a:prstGeom prst="roundRect">
            <a:avLst>
              <a:gd name="adj" fmla="val 3589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B_l" descr="Editable text; source id zB_l"/>
          <p:cNvSpPr txBox="1"/>
          <p:nvPr/>
        </p:nvSpPr>
        <p:spPr>
          <a:xfrm>
            <a:off x="380999" y="3809999"/>
            <a:ext cx="2468562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06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2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Experimental Items</a:t>
            </a:r>
          </a:p>
        </p:txBody>
      </p:sp>
      <p:sp>
        <p:nvSpPr>
          <p:cNvPr id="6" name="n1" descr="Editable shape; source id n1"/>
          <p:cNvSpPr/>
          <p:nvPr/>
        </p:nvSpPr>
        <p:spPr>
          <a:xfrm>
            <a:off x="555624" y="888999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1_b" descr="Editable shape; source id n1_b"/>
          <p:cNvSpPr/>
          <p:nvPr/>
        </p:nvSpPr>
        <p:spPr>
          <a:xfrm>
            <a:off x="555624" y="888999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1_n" descr="Editable text; source id n1_n"/>
          <p:cNvSpPr txBox="1"/>
          <p:nvPr/>
        </p:nvSpPr>
        <p:spPr>
          <a:xfrm>
            <a:off x="777874" y="1031874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cxnSp>
        <p:nvCxnSpPr>
          <p:cNvPr id="9" name="n1_g_o_0" descr="Editable line; source id n1_g_o_0"/>
          <p:cNvCxnSpPr/>
          <p:nvPr/>
        </p:nvCxnSpPr>
        <p:spPr>
          <a:xfrm>
            <a:off x="3238499" y="1055687"/>
            <a:ext cx="293688" cy="1905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n1_g_o_1" descr="Editable line; source id n1_g_o_1"/>
          <p:cNvCxnSpPr/>
          <p:nvPr/>
        </p:nvCxnSpPr>
        <p:spPr>
          <a:xfrm flipH="1">
            <a:off x="3397249" y="1246187"/>
            <a:ext cx="134938" cy="3968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n1_g_o_2" descr="Editable line; source id n1_g_o_2"/>
          <p:cNvCxnSpPr/>
          <p:nvPr/>
        </p:nvCxnSpPr>
        <p:spPr>
          <a:xfrm flipH="1">
            <a:off x="3079749" y="1643062"/>
            <a:ext cx="317500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n1_g_o_3" descr="Editable line; source id n1_g_o_3"/>
          <p:cNvCxnSpPr/>
          <p:nvPr/>
        </p:nvCxnSpPr>
        <p:spPr>
          <a:xfrm flipH="1" flipV="1">
            <a:off x="2944812" y="1246187"/>
            <a:ext cx="134937" cy="3968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n1_g_o_4" descr="Editable line; source id n1_g_o_4"/>
          <p:cNvCxnSpPr/>
          <p:nvPr/>
        </p:nvCxnSpPr>
        <p:spPr>
          <a:xfrm flipV="1">
            <a:off x="2944812" y="1055687"/>
            <a:ext cx="293687" cy="1905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n1_g_a" descr="Editable line; source id n1_g_a"/>
          <p:cNvCxnSpPr/>
          <p:nvPr/>
        </p:nvCxnSpPr>
        <p:spPr>
          <a:xfrm>
            <a:off x="3238499" y="1055687"/>
            <a:ext cx="0" cy="58737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n1_g_b" descr="Editable line; source id n1_g_b"/>
          <p:cNvCxnSpPr/>
          <p:nvPr/>
        </p:nvCxnSpPr>
        <p:spPr>
          <a:xfrm>
            <a:off x="2944812" y="1246187"/>
            <a:ext cx="5873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n1_t" descr="Editable text; source id n1_t"/>
          <p:cNvSpPr txBox="1"/>
          <p:nvPr/>
        </p:nvSpPr>
        <p:spPr>
          <a:xfrm>
            <a:off x="777874" y="1809749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Structural Basis</a:t>
            </a:r>
          </a:p>
        </p:txBody>
      </p:sp>
      <p:cxnSp>
        <p:nvCxnSpPr>
          <p:cNvPr id="17" name="n1_r" descr="Editable line; source id n1_r"/>
          <p:cNvCxnSpPr/>
          <p:nvPr/>
        </p:nvCxnSpPr>
        <p:spPr>
          <a:xfrm>
            <a:off x="825499" y="2262187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n1_p" descr="Editable shape; source id n1_p"/>
          <p:cNvSpPr/>
          <p:nvPr/>
        </p:nvSpPr>
        <p:spPr>
          <a:xfrm>
            <a:off x="777874" y="2666999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1_p_t" descr="Editable text; source id n1_p_t"/>
          <p:cNvSpPr txBox="1"/>
          <p:nvPr/>
        </p:nvSpPr>
        <p:spPr>
          <a:xfrm>
            <a:off x="833437" y="2698749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LT and HT polymorphs</a:t>
            </a:r>
          </a:p>
        </p:txBody>
      </p:sp>
      <p:sp>
        <p:nvSpPr>
          <p:cNvPr id="20" name="n2" descr="Editable shape; source id n2"/>
          <p:cNvSpPr/>
          <p:nvPr/>
        </p:nvSpPr>
        <p:spPr>
          <a:xfrm>
            <a:off x="4524374" y="888999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2_b" descr="Editable shape; source id n2_b"/>
          <p:cNvSpPr/>
          <p:nvPr/>
        </p:nvSpPr>
        <p:spPr>
          <a:xfrm>
            <a:off x="4524374" y="888999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2_n" descr="Editable text; source id n2_n"/>
          <p:cNvSpPr txBox="1"/>
          <p:nvPr/>
        </p:nvSpPr>
        <p:spPr>
          <a:xfrm>
            <a:off x="4746624" y="1031874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cxnSp>
        <p:nvCxnSpPr>
          <p:cNvPr id="23" name="n2_g_b_0" descr="Editable line; source id n2_g_b_0"/>
          <p:cNvCxnSpPr/>
          <p:nvPr/>
        </p:nvCxnSpPr>
        <p:spPr>
          <a:xfrm>
            <a:off x="7000874" y="1222374"/>
            <a:ext cx="71438" cy="388938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n2_g_b_1" descr="Editable line; source id n2_g_b_1"/>
          <p:cNvCxnSpPr/>
          <p:nvPr/>
        </p:nvCxnSpPr>
        <p:spPr>
          <a:xfrm>
            <a:off x="7072312" y="1611312"/>
            <a:ext cx="2698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n2_g_b_2" descr="Editable line; source id n2_g_b_2"/>
          <p:cNvCxnSpPr/>
          <p:nvPr/>
        </p:nvCxnSpPr>
        <p:spPr>
          <a:xfrm flipV="1">
            <a:off x="7342187" y="1222374"/>
            <a:ext cx="71437" cy="388938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n2_g_r" descr="Editable line; source id n2_g_r"/>
          <p:cNvCxnSpPr/>
          <p:nvPr/>
        </p:nvCxnSpPr>
        <p:spPr>
          <a:xfrm>
            <a:off x="6961187" y="1222374"/>
            <a:ext cx="49212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n2_t" descr="Editable text; source id n2_t"/>
          <p:cNvSpPr txBox="1"/>
          <p:nvPr/>
        </p:nvSpPr>
        <p:spPr>
          <a:xfrm>
            <a:off x="4746624" y="1809749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Synthesis Routes</a:t>
            </a:r>
          </a:p>
        </p:txBody>
      </p:sp>
      <p:cxnSp>
        <p:nvCxnSpPr>
          <p:cNvPr id="28" name="n2_r" descr="Editable line; source id n2_r"/>
          <p:cNvCxnSpPr/>
          <p:nvPr/>
        </p:nvCxnSpPr>
        <p:spPr>
          <a:xfrm>
            <a:off x="4794249" y="2262187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n2_p" descr="Editable shape; source id n2_p"/>
          <p:cNvSpPr/>
          <p:nvPr/>
        </p:nvSpPr>
        <p:spPr>
          <a:xfrm>
            <a:off x="4746624" y="2666999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2_p_t" descr="Editable text; source id n2_p_t"/>
          <p:cNvSpPr txBox="1"/>
          <p:nvPr/>
        </p:nvSpPr>
        <p:spPr>
          <a:xfrm>
            <a:off x="4802187" y="2698749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Solid-state · sol–gel</a:t>
            </a:r>
          </a:p>
        </p:txBody>
      </p:sp>
      <p:sp>
        <p:nvSpPr>
          <p:cNvPr id="31" name="n3" descr="Editable shape; source id n3"/>
          <p:cNvSpPr/>
          <p:nvPr/>
        </p:nvSpPr>
        <p:spPr>
          <a:xfrm>
            <a:off x="8493124" y="888999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3_b" descr="Editable shape; source id n3_b"/>
          <p:cNvSpPr/>
          <p:nvPr/>
        </p:nvSpPr>
        <p:spPr>
          <a:xfrm>
            <a:off x="8493124" y="888999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3_n" descr="Editable text; source id n3_n"/>
          <p:cNvSpPr txBox="1"/>
          <p:nvPr/>
        </p:nvSpPr>
        <p:spPr>
          <a:xfrm>
            <a:off x="8715374" y="1031874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cxnSp>
        <p:nvCxnSpPr>
          <p:cNvPr id="34" name="n3_g_d0_0" descr="Editable line; source id n3_g_d0_0"/>
          <p:cNvCxnSpPr/>
          <p:nvPr/>
        </p:nvCxnSpPr>
        <p:spPr>
          <a:xfrm>
            <a:off x="11175999" y="1103312"/>
            <a:ext cx="277813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n3_g_d0_1" descr="Editable line; source id n3_g_d0_1"/>
          <p:cNvCxnSpPr/>
          <p:nvPr/>
        </p:nvCxnSpPr>
        <p:spPr>
          <a:xfrm flipH="1">
            <a:off x="11175999" y="1230312"/>
            <a:ext cx="277813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n3_g_d0_2" descr="Editable line; source id n3_g_d0_2"/>
          <p:cNvCxnSpPr/>
          <p:nvPr/>
        </p:nvCxnSpPr>
        <p:spPr>
          <a:xfrm flipH="1" flipV="1">
            <a:off x="10898187" y="1230312"/>
            <a:ext cx="277812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n3_g_d0_3" descr="Editable line; source id n3_g_d0_3"/>
          <p:cNvCxnSpPr/>
          <p:nvPr/>
        </p:nvCxnSpPr>
        <p:spPr>
          <a:xfrm flipV="1">
            <a:off x="10898187" y="1103312"/>
            <a:ext cx="277812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n3_g_d1_0" descr="Editable line; source id n3_g_d1_0"/>
          <p:cNvCxnSpPr/>
          <p:nvPr/>
        </p:nvCxnSpPr>
        <p:spPr>
          <a:xfrm>
            <a:off x="11175999" y="1262062"/>
            <a:ext cx="277813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n3_g_d1_1" descr="Editable line; source id n3_g_d1_1"/>
          <p:cNvCxnSpPr/>
          <p:nvPr/>
        </p:nvCxnSpPr>
        <p:spPr>
          <a:xfrm flipH="1">
            <a:off x="11175999" y="1396999"/>
            <a:ext cx="277813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n3_g_d1_2" descr="Editable line; source id n3_g_d1_2"/>
          <p:cNvCxnSpPr/>
          <p:nvPr/>
        </p:nvCxnSpPr>
        <p:spPr>
          <a:xfrm flipH="1" flipV="1">
            <a:off x="10898187" y="1396999"/>
            <a:ext cx="277812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n3_g_d1_3" descr="Editable line; source id n3_g_d1_3"/>
          <p:cNvCxnSpPr/>
          <p:nvPr/>
        </p:nvCxnSpPr>
        <p:spPr>
          <a:xfrm flipV="1">
            <a:off x="10898187" y="1262062"/>
            <a:ext cx="277812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n3_g_d2_0" descr="Editable line; source id n3_g_d2_0"/>
          <p:cNvCxnSpPr/>
          <p:nvPr/>
        </p:nvCxnSpPr>
        <p:spPr>
          <a:xfrm>
            <a:off x="11175999" y="1420812"/>
            <a:ext cx="277813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n3_g_d2_1" descr="Editable line; source id n3_g_d2_1"/>
          <p:cNvCxnSpPr/>
          <p:nvPr/>
        </p:nvCxnSpPr>
        <p:spPr>
          <a:xfrm flipH="1">
            <a:off x="11175999" y="1555749"/>
            <a:ext cx="277813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n3_g_d2_2" descr="Editable line; source id n3_g_d2_2"/>
          <p:cNvCxnSpPr/>
          <p:nvPr/>
        </p:nvCxnSpPr>
        <p:spPr>
          <a:xfrm flipH="1" flipV="1">
            <a:off x="10898187" y="1555749"/>
            <a:ext cx="277812" cy="12700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n3_g_d2_3" descr="Editable line; source id n3_g_d2_3"/>
          <p:cNvCxnSpPr/>
          <p:nvPr/>
        </p:nvCxnSpPr>
        <p:spPr>
          <a:xfrm flipV="1">
            <a:off x="10898187" y="1420812"/>
            <a:ext cx="277812" cy="134937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n3_t" descr="Editable text; source id n3_t"/>
          <p:cNvSpPr txBox="1"/>
          <p:nvPr/>
        </p:nvSpPr>
        <p:spPr>
          <a:xfrm>
            <a:off x="8715374" y="1809749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Phase Control</a:t>
            </a:r>
          </a:p>
        </p:txBody>
      </p:sp>
      <p:cxnSp>
        <p:nvCxnSpPr>
          <p:cNvPr id="47" name="n3_r" descr="Editable line; source id n3_r"/>
          <p:cNvCxnSpPr/>
          <p:nvPr/>
        </p:nvCxnSpPr>
        <p:spPr>
          <a:xfrm>
            <a:off x="8762999" y="2262187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n3_p" descr="Editable shape; source id n3_p"/>
          <p:cNvSpPr/>
          <p:nvPr/>
        </p:nvSpPr>
        <p:spPr>
          <a:xfrm>
            <a:off x="8715374" y="2666999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3_p_t" descr="Editable text; source id n3_p_t"/>
          <p:cNvSpPr txBox="1"/>
          <p:nvPr/>
        </p:nvSpPr>
        <p:spPr>
          <a:xfrm>
            <a:off x="8770937" y="2698749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Composition · annealing</a:t>
            </a:r>
          </a:p>
        </p:txBody>
      </p:sp>
      <p:sp>
        <p:nvSpPr>
          <p:cNvPr id="50" name="n4" descr="Editable shape; source id n4"/>
          <p:cNvSpPr/>
          <p:nvPr/>
        </p:nvSpPr>
        <p:spPr>
          <a:xfrm>
            <a:off x="555624" y="4302124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4_b" descr="Editable shape; source id n4_b"/>
          <p:cNvSpPr/>
          <p:nvPr/>
        </p:nvSpPr>
        <p:spPr>
          <a:xfrm>
            <a:off x="555624" y="4302124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4_n" descr="Editable text; source id n4_n"/>
          <p:cNvSpPr txBox="1"/>
          <p:nvPr/>
        </p:nvSpPr>
        <p:spPr>
          <a:xfrm>
            <a:off x="777874" y="4444999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3" name="n4_g_a" descr="Editable shape; source id n4_g_a"/>
          <p:cNvSpPr/>
          <p:nvPr/>
        </p:nvSpPr>
        <p:spPr>
          <a:xfrm>
            <a:off x="3135312" y="4468812"/>
            <a:ext cx="206374" cy="2063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4_g_b" descr="Editable shape; source id n4_g_b"/>
          <p:cNvSpPr/>
          <p:nvPr/>
        </p:nvSpPr>
        <p:spPr>
          <a:xfrm>
            <a:off x="2920999" y="4849812"/>
            <a:ext cx="206374" cy="2063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n4_g_c" descr="Editable shape; source id n4_g_c"/>
          <p:cNvSpPr/>
          <p:nvPr/>
        </p:nvSpPr>
        <p:spPr>
          <a:xfrm>
            <a:off x="3357562" y="4849812"/>
            <a:ext cx="206374" cy="2063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n4_g_l" descr="Editable line; source id n4_g_l"/>
          <p:cNvCxnSpPr/>
          <p:nvPr/>
        </p:nvCxnSpPr>
        <p:spPr>
          <a:xfrm flipH="1">
            <a:off x="3016249" y="4675187"/>
            <a:ext cx="222250" cy="17462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n4_g_r" descr="Editable line; source id n4_g_r"/>
          <p:cNvCxnSpPr/>
          <p:nvPr/>
        </p:nvCxnSpPr>
        <p:spPr>
          <a:xfrm>
            <a:off x="3238499" y="4675187"/>
            <a:ext cx="222250" cy="174625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n4_t" descr="Editable text; source id n4_t"/>
          <p:cNvSpPr txBox="1"/>
          <p:nvPr/>
        </p:nvSpPr>
        <p:spPr>
          <a:xfrm>
            <a:off x="777874" y="5222874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Neighbor Systems</a:t>
            </a:r>
          </a:p>
        </p:txBody>
      </p:sp>
      <p:cxnSp>
        <p:nvCxnSpPr>
          <p:cNvPr id="59" name="n4_r" descr="Editable line; source id n4_r"/>
          <p:cNvCxnSpPr/>
          <p:nvPr/>
        </p:nvCxnSpPr>
        <p:spPr>
          <a:xfrm>
            <a:off x="825499" y="5675312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n4_p" descr="Editable shape; source id n4_p"/>
          <p:cNvSpPr/>
          <p:nvPr/>
        </p:nvSpPr>
        <p:spPr>
          <a:xfrm>
            <a:off x="777874" y="6080124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4_p_t" descr="Editable text; source id n4_p_t"/>
          <p:cNvSpPr txBox="1"/>
          <p:nvPr/>
        </p:nvSpPr>
        <p:spPr>
          <a:xfrm>
            <a:off x="833437" y="6111874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Ba–Sr–Zn–Si</a:t>
            </a:r>
          </a:p>
        </p:txBody>
      </p:sp>
      <p:sp>
        <p:nvSpPr>
          <p:cNvPr id="62" name="n5" descr="Editable shape; source id n5"/>
          <p:cNvSpPr/>
          <p:nvPr/>
        </p:nvSpPr>
        <p:spPr>
          <a:xfrm>
            <a:off x="4524374" y="4302124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AF0"/>
          </a:solidFill>
          <a:ln w="11112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5_b" descr="Editable shape; source id n5_b"/>
          <p:cNvSpPr/>
          <p:nvPr/>
        </p:nvSpPr>
        <p:spPr>
          <a:xfrm>
            <a:off x="4524374" y="4302124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5_n" descr="Editable text; source id n5_n"/>
          <p:cNvSpPr txBox="1"/>
          <p:nvPr/>
        </p:nvSpPr>
        <p:spPr>
          <a:xfrm>
            <a:off x="4746624" y="4444999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cxnSp>
        <p:nvCxnSpPr>
          <p:cNvPr id="65" name="n5_g_p" descr="Editable line; source id n5_g_p"/>
          <p:cNvCxnSpPr/>
          <p:nvPr/>
        </p:nvCxnSpPr>
        <p:spPr>
          <a:xfrm>
            <a:off x="7207249" y="4516437"/>
            <a:ext cx="0" cy="468312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n5_g_b" descr="Editable line; source id n5_g_b"/>
          <p:cNvCxnSpPr/>
          <p:nvPr/>
        </p:nvCxnSpPr>
        <p:spPr>
          <a:xfrm>
            <a:off x="6961187" y="4619624"/>
            <a:ext cx="49212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n5_g_l_0" descr="Editable line; source id n5_g_l_0"/>
          <p:cNvCxnSpPr/>
          <p:nvPr/>
        </p:nvCxnSpPr>
        <p:spPr>
          <a:xfrm flipH="1">
            <a:off x="6889749" y="4619624"/>
            <a:ext cx="71438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n5_g_l_1" descr="Editable line; source id n5_g_l_1"/>
          <p:cNvCxnSpPr/>
          <p:nvPr/>
        </p:nvCxnSpPr>
        <p:spPr>
          <a:xfrm>
            <a:off x="6889749" y="4778374"/>
            <a:ext cx="1428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n5_g_l_2" descr="Editable line; source id n5_g_l_2"/>
          <p:cNvCxnSpPr/>
          <p:nvPr/>
        </p:nvCxnSpPr>
        <p:spPr>
          <a:xfrm flipH="1" flipV="1">
            <a:off x="6961187" y="4619624"/>
            <a:ext cx="71437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n5_g_r_0" descr="Editable line; source id n5_g_r_0"/>
          <p:cNvCxnSpPr/>
          <p:nvPr/>
        </p:nvCxnSpPr>
        <p:spPr>
          <a:xfrm flipH="1">
            <a:off x="7381874" y="4619624"/>
            <a:ext cx="71438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n5_g_r_1" descr="Editable line; source id n5_g_r_1"/>
          <p:cNvCxnSpPr/>
          <p:nvPr/>
        </p:nvCxnSpPr>
        <p:spPr>
          <a:xfrm>
            <a:off x="7381874" y="4778374"/>
            <a:ext cx="142875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n5_g_r_2" descr="Editable line; source id n5_g_r_2"/>
          <p:cNvCxnSpPr/>
          <p:nvPr/>
        </p:nvCxnSpPr>
        <p:spPr>
          <a:xfrm flipH="1" flipV="1">
            <a:off x="7453312" y="4619624"/>
            <a:ext cx="71437" cy="158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n5_g_f" descr="Editable line; source id n5_g_f"/>
          <p:cNvCxnSpPr/>
          <p:nvPr/>
        </p:nvCxnSpPr>
        <p:spPr>
          <a:xfrm>
            <a:off x="7064374" y="5040312"/>
            <a:ext cx="285750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n5_t" descr="Editable text; source id n5_t"/>
          <p:cNvSpPr txBox="1"/>
          <p:nvPr/>
        </p:nvSpPr>
        <p:spPr>
          <a:xfrm>
            <a:off x="4746624" y="5222874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Analogue Criteria</a:t>
            </a:r>
          </a:p>
        </p:txBody>
      </p:sp>
      <p:cxnSp>
        <p:nvCxnSpPr>
          <p:cNvPr id="75" name="n5_r" descr="Editable line; source id n5_r"/>
          <p:cNvCxnSpPr/>
          <p:nvPr/>
        </p:nvCxnSpPr>
        <p:spPr>
          <a:xfrm>
            <a:off x="4794249" y="5675312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n5_p" descr="Editable shape; source id n5_p"/>
          <p:cNvSpPr/>
          <p:nvPr/>
        </p:nvSpPr>
        <p:spPr>
          <a:xfrm>
            <a:off x="4746624" y="6080124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5_p_t" descr="Editable text; source id n5_p_t"/>
          <p:cNvSpPr txBox="1"/>
          <p:nvPr/>
        </p:nvSpPr>
        <p:spPr>
          <a:xfrm>
            <a:off x="4802187" y="6111874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78" name="n6" descr="Editable shape; source id n6"/>
          <p:cNvSpPr/>
          <p:nvPr/>
        </p:nvSpPr>
        <p:spPr>
          <a:xfrm>
            <a:off x="8493124" y="4302124"/>
            <a:ext cx="3333749" cy="2206624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6_b" descr="Editable shape; source id n6_b"/>
          <p:cNvSpPr/>
          <p:nvPr/>
        </p:nvSpPr>
        <p:spPr>
          <a:xfrm>
            <a:off x="8493124" y="4302124"/>
            <a:ext cx="79374" cy="2206624"/>
          </a:xfrm>
          <a:prstGeom prst="roundRect">
            <a:avLst>
              <a:gd name="adj" fmla="val 3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6_n" descr="Editable text; source id n6_n"/>
          <p:cNvSpPr txBox="1"/>
          <p:nvPr/>
        </p:nvSpPr>
        <p:spPr>
          <a:xfrm>
            <a:off x="8715374" y="4444999"/>
            <a:ext cx="730249" cy="484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81" name="n6_g_b0" descr="Editable shape; source id n6_g_b0"/>
          <p:cNvSpPr/>
          <p:nvPr/>
        </p:nvSpPr>
        <p:spPr>
          <a:xfrm>
            <a:off x="10898187" y="4556124"/>
            <a:ext cx="142874" cy="1428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n6_g_l0" descr="Editable line; source id n6_g_l0"/>
          <p:cNvCxnSpPr/>
          <p:nvPr/>
        </p:nvCxnSpPr>
        <p:spPr>
          <a:xfrm>
            <a:off x="11128374" y="4635499"/>
            <a:ext cx="341313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n6_g_k0_0" descr="Editable line; source id n6_g_k0_0"/>
          <p:cNvCxnSpPr/>
          <p:nvPr/>
        </p:nvCxnSpPr>
        <p:spPr>
          <a:xfrm>
            <a:off x="10929937" y="4643437"/>
            <a:ext cx="31750" cy="3175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n6_g_k0_1" descr="Editable line; source id n6_g_k0_1"/>
          <p:cNvCxnSpPr/>
          <p:nvPr/>
        </p:nvCxnSpPr>
        <p:spPr>
          <a:xfrm flipV="1">
            <a:off x="10961687" y="4587874"/>
            <a:ext cx="71437" cy="87313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n6_g_b1" descr="Editable shape; source id n6_g_b1"/>
          <p:cNvSpPr/>
          <p:nvPr/>
        </p:nvSpPr>
        <p:spPr>
          <a:xfrm>
            <a:off x="10898187" y="4746624"/>
            <a:ext cx="142874" cy="1428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n6_g_l1" descr="Editable line; source id n6_g_l1"/>
          <p:cNvCxnSpPr/>
          <p:nvPr/>
        </p:nvCxnSpPr>
        <p:spPr>
          <a:xfrm>
            <a:off x="11128374" y="4825999"/>
            <a:ext cx="341313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n6_g_k1_0" descr="Editable line; source id n6_g_k1_0"/>
          <p:cNvCxnSpPr/>
          <p:nvPr/>
        </p:nvCxnSpPr>
        <p:spPr>
          <a:xfrm>
            <a:off x="10929937" y="4825999"/>
            <a:ext cx="31750" cy="39688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n6_g_k1_1" descr="Editable line; source id n6_g_k1_1"/>
          <p:cNvCxnSpPr/>
          <p:nvPr/>
        </p:nvCxnSpPr>
        <p:spPr>
          <a:xfrm flipV="1">
            <a:off x="10961687" y="4778374"/>
            <a:ext cx="71437" cy="87313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n6_g_b2" descr="Editable shape; source id n6_g_b2"/>
          <p:cNvSpPr/>
          <p:nvPr/>
        </p:nvSpPr>
        <p:spPr>
          <a:xfrm>
            <a:off x="10898187" y="4937124"/>
            <a:ext cx="142874" cy="142874"/>
          </a:xfrm>
          <a:prstGeom prst="rect">
            <a:avLst/>
          </a:prstGeom>
          <a:noFill/>
          <a:ln w="14604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n6_g_l2" descr="Editable line; source id n6_g_l2"/>
          <p:cNvCxnSpPr/>
          <p:nvPr/>
        </p:nvCxnSpPr>
        <p:spPr>
          <a:xfrm>
            <a:off x="11128374" y="5008562"/>
            <a:ext cx="341313" cy="0"/>
          </a:xfrm>
          <a:prstGeom prst="line">
            <a:avLst/>
          </a:prstGeom>
          <a:ln w="14604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n6_t" descr="Editable text; source id n6_t"/>
          <p:cNvSpPr txBox="1"/>
          <p:nvPr/>
        </p:nvSpPr>
        <p:spPr>
          <a:xfrm>
            <a:off x="8715374" y="5222874"/>
            <a:ext cx="2968624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Test Priorities</a:t>
            </a:r>
          </a:p>
        </p:txBody>
      </p:sp>
      <p:cxnSp>
        <p:nvCxnSpPr>
          <p:cNvPr id="92" name="n6_r" descr="Editable line; source id n6_r"/>
          <p:cNvCxnSpPr/>
          <p:nvPr/>
        </p:nvCxnSpPr>
        <p:spPr>
          <a:xfrm>
            <a:off x="8762999" y="5675312"/>
            <a:ext cx="2873375" cy="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n6_p" descr="Editable shape; source id n6_p"/>
          <p:cNvSpPr/>
          <p:nvPr/>
        </p:nvSpPr>
        <p:spPr>
          <a:xfrm>
            <a:off x="8715374" y="6080124"/>
            <a:ext cx="2968624" cy="285749"/>
          </a:xfrm>
          <a:prstGeom prst="roundRect">
            <a:avLst>
              <a:gd name="adj" fmla="val 1666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n6_p_t" descr="Editable text; source id n6_p_t"/>
          <p:cNvSpPr txBox="1"/>
          <p:nvPr/>
        </p:nvSpPr>
        <p:spPr>
          <a:xfrm>
            <a:off x="8770937" y="6111874"/>
            <a:ext cx="2857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100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1006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Phase diagram · structure · thermodynamics</a:t>
            </a:r>
          </a:p>
        </p:txBody>
      </p:sp>
      <p:sp>
        <p:nvSpPr>
          <p:cNvPr id="95" name="e0_0" descr="Editable line; source id e0_0"/>
          <p:cNvSpPr/>
          <p:nvPr/>
        </p:nvSpPr>
        <p:spPr>
          <a:xfrm>
            <a:off x="3952875" y="1952625"/>
            <a:ext cx="508000" cy="79375"/>
          </a:xfrm>
          <a:custGeom>
            <a:avLst/>
            <a:gdLst/>
            <a:ahLst/>
            <a:cxnLst/>
            <a:rect l="l" t="t" r="r" b="b"/>
            <a:pathLst>
              <a:path w="64000" h="10000">
                <a:moveTo>
                  <a:pt x="0" y="4100"/>
                </a:moveTo>
                <a:lnTo>
                  <a:pt x="52000" y="4100"/>
                </a:lnTo>
                <a:lnTo>
                  <a:pt x="52000" y="0"/>
                </a:lnTo>
                <a:lnTo>
                  <a:pt x="64000" y="5000"/>
                </a:lnTo>
                <a:lnTo>
                  <a:pt x="52000" y="10000"/>
                </a:lnTo>
                <a:lnTo>
                  <a:pt x="5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0_p" descr="Editable shape; source id e0_p"/>
          <p:cNvSpPr/>
          <p:nvPr/>
        </p:nvSpPr>
        <p:spPr>
          <a:xfrm>
            <a:off x="3222624" y="1523999"/>
            <a:ext cx="19764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0_p_t" descr="Editable text; source id e0_p_t"/>
          <p:cNvSpPr txBox="1"/>
          <p:nvPr/>
        </p:nvSpPr>
        <p:spPr>
          <a:xfrm>
            <a:off x="3301999" y="1555749"/>
            <a:ext cx="18176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Structural constraints</a:t>
            </a:r>
          </a:p>
        </p:txBody>
      </p:sp>
      <p:sp>
        <p:nvSpPr>
          <p:cNvPr id="98" name="e1_0" descr="Editable line; source id e1_0"/>
          <p:cNvSpPr/>
          <p:nvPr/>
        </p:nvSpPr>
        <p:spPr>
          <a:xfrm>
            <a:off x="7921625" y="1952625"/>
            <a:ext cx="508000" cy="79375"/>
          </a:xfrm>
          <a:custGeom>
            <a:avLst/>
            <a:gdLst/>
            <a:ahLst/>
            <a:cxnLst/>
            <a:rect l="l" t="t" r="r" b="b"/>
            <a:pathLst>
              <a:path w="64000" h="10000">
                <a:moveTo>
                  <a:pt x="0" y="4100"/>
                </a:moveTo>
                <a:lnTo>
                  <a:pt x="52000" y="4100"/>
                </a:lnTo>
                <a:lnTo>
                  <a:pt x="52000" y="0"/>
                </a:lnTo>
                <a:lnTo>
                  <a:pt x="64000" y="5000"/>
                </a:lnTo>
                <a:lnTo>
                  <a:pt x="52000" y="10000"/>
                </a:lnTo>
                <a:lnTo>
                  <a:pt x="5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1_p" descr="Editable shape; source id e1_p"/>
          <p:cNvSpPr/>
          <p:nvPr/>
        </p:nvSpPr>
        <p:spPr>
          <a:xfrm>
            <a:off x="7429499" y="1523999"/>
            <a:ext cx="1500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1_p_t" descr="Editable text; source id e1_p_t"/>
          <p:cNvSpPr txBox="1"/>
          <p:nvPr/>
        </p:nvSpPr>
        <p:spPr>
          <a:xfrm>
            <a:off x="7508874" y="1555749"/>
            <a:ext cx="1341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Condition window</a:t>
            </a:r>
          </a:p>
        </p:txBody>
      </p:sp>
      <p:sp>
        <p:nvSpPr>
          <p:cNvPr id="101" name="e3_0" descr="Editable line; source id e3_0"/>
          <p:cNvSpPr/>
          <p:nvPr/>
        </p:nvSpPr>
        <p:spPr>
          <a:xfrm>
            <a:off x="3952875" y="5365750"/>
            <a:ext cx="508000" cy="79375"/>
          </a:xfrm>
          <a:custGeom>
            <a:avLst/>
            <a:gdLst/>
            <a:ahLst/>
            <a:cxnLst/>
            <a:rect l="l" t="t" r="r" b="b"/>
            <a:pathLst>
              <a:path w="64000" h="10000">
                <a:moveTo>
                  <a:pt x="0" y="4100"/>
                </a:moveTo>
                <a:lnTo>
                  <a:pt x="52000" y="4100"/>
                </a:lnTo>
                <a:lnTo>
                  <a:pt x="52000" y="0"/>
                </a:lnTo>
                <a:lnTo>
                  <a:pt x="64000" y="5000"/>
                </a:lnTo>
                <a:lnTo>
                  <a:pt x="52000" y="10000"/>
                </a:lnTo>
                <a:lnTo>
                  <a:pt x="5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3_p" descr="Editable shape; source id e3_p"/>
          <p:cNvSpPr/>
          <p:nvPr/>
        </p:nvSpPr>
        <p:spPr>
          <a:xfrm>
            <a:off x="3333749" y="4937124"/>
            <a:ext cx="1738312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3_p_t" descr="Editable text; source id e3_p_t"/>
          <p:cNvSpPr txBox="1"/>
          <p:nvPr/>
        </p:nvSpPr>
        <p:spPr>
          <a:xfrm>
            <a:off x="3413124" y="4968874"/>
            <a:ext cx="1579562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Comparison boundary</a:t>
            </a:r>
          </a:p>
        </p:txBody>
      </p:sp>
      <p:sp>
        <p:nvSpPr>
          <p:cNvPr id="104" name="e4_0" descr="Editable line; source id e4_0"/>
          <p:cNvSpPr/>
          <p:nvPr/>
        </p:nvSpPr>
        <p:spPr>
          <a:xfrm>
            <a:off x="7921625" y="5365750"/>
            <a:ext cx="508000" cy="79375"/>
          </a:xfrm>
          <a:custGeom>
            <a:avLst/>
            <a:gdLst/>
            <a:ahLst/>
            <a:cxnLst/>
            <a:rect l="l" t="t" r="r" b="b"/>
            <a:pathLst>
              <a:path w="64000" h="10000">
                <a:moveTo>
                  <a:pt x="0" y="4100"/>
                </a:moveTo>
                <a:lnTo>
                  <a:pt x="52000" y="4100"/>
                </a:lnTo>
                <a:lnTo>
                  <a:pt x="52000" y="0"/>
                </a:lnTo>
                <a:lnTo>
                  <a:pt x="64000" y="5000"/>
                </a:lnTo>
                <a:lnTo>
                  <a:pt x="52000" y="10000"/>
                </a:lnTo>
                <a:lnTo>
                  <a:pt x="5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4_p" descr="Editable shape; source id e4_p"/>
          <p:cNvSpPr/>
          <p:nvPr/>
        </p:nvSpPr>
        <p:spPr>
          <a:xfrm>
            <a:off x="7635874" y="4937124"/>
            <a:ext cx="1071562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4_p_t" descr="Editable text; source id e4_p_t"/>
          <p:cNvSpPr txBox="1"/>
          <p:nvPr/>
        </p:nvSpPr>
        <p:spPr>
          <a:xfrm>
            <a:off x="7715249" y="4968874"/>
            <a:ext cx="912812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Gap-driven</a:t>
            </a:r>
          </a:p>
        </p:txBody>
      </p:sp>
      <p:cxnSp>
        <p:nvCxnSpPr>
          <p:cNvPr id="107" name="e2_0" descr="Editable line; source id e2_0"/>
          <p:cNvCxnSpPr/>
          <p:nvPr/>
        </p:nvCxnSpPr>
        <p:spPr>
          <a:xfrm>
            <a:off x="10159999" y="3127374"/>
            <a:ext cx="0" cy="41275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2_1" descr="Editable line; source id e2_1"/>
          <p:cNvCxnSpPr/>
          <p:nvPr/>
        </p:nvCxnSpPr>
        <p:spPr>
          <a:xfrm flipH="1">
            <a:off x="2857499" y="3540124"/>
            <a:ext cx="730250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e2_2" descr="Editable line; source id e2_2"/>
          <p:cNvSpPr/>
          <p:nvPr/>
        </p:nvSpPr>
        <p:spPr>
          <a:xfrm>
            <a:off x="2817812" y="3540125"/>
            <a:ext cx="79375" cy="730250"/>
          </a:xfrm>
          <a:custGeom>
            <a:avLst/>
            <a:gdLst/>
            <a:ahLst/>
            <a:cxnLst/>
            <a:rect l="l" t="t" r="r" b="b"/>
            <a:pathLst>
              <a:path w="10000" h="92000">
                <a:moveTo>
                  <a:pt x="5900" y="0"/>
                </a:moveTo>
                <a:lnTo>
                  <a:pt x="5900" y="80000"/>
                </a:lnTo>
                <a:lnTo>
                  <a:pt x="10000" y="80000"/>
                </a:lnTo>
                <a:lnTo>
                  <a:pt x="5000" y="92000"/>
                </a:lnTo>
                <a:lnTo>
                  <a:pt x="0" y="80000"/>
                </a:lnTo>
                <a:lnTo>
                  <a:pt x="4100" y="80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2_p" descr="Editable shape; source id e2_p"/>
          <p:cNvSpPr/>
          <p:nvPr/>
        </p:nvSpPr>
        <p:spPr>
          <a:xfrm>
            <a:off x="5524499" y="3381374"/>
            <a:ext cx="19764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2_p_t" descr="Editable text; source id e2_p_t"/>
          <p:cNvSpPr txBox="1"/>
          <p:nvPr/>
        </p:nvSpPr>
        <p:spPr>
          <a:xfrm>
            <a:off x="5603874" y="3413124"/>
            <a:ext cx="18176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187"/>
              </a:lnSpc>
              <a:spcBef>
                <a:spcPts val="0"/>
              </a:spcBef>
              <a:spcAft>
                <a:spcPts val="0"/>
              </a:spcAft>
              <a:def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defRPr>
            </a:pPr>
            <a:r>
              <a:rPr sz="99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Transferable variables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