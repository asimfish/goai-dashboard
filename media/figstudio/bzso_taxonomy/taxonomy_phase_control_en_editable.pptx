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· Taxonomy of synthesis and phase control (round 5, F02).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E" descr="Editable shape; source id zE"/>
          <p:cNvSpPr/>
          <p:nvPr/>
        </p:nvSpPr>
        <p:spPr>
          <a:xfrm>
            <a:off x="285749" y="317499"/>
            <a:ext cx="4921249" cy="7492999"/>
          </a:xfrm>
          <a:prstGeom prst="roundRect">
            <a:avLst>
              <a:gd name="adj" fmla="val 2258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E_l" descr="Editable text; source id zE_l"/>
          <p:cNvSpPr txBox="1"/>
          <p:nvPr/>
        </p:nvSpPr>
        <p:spPr>
          <a:xfrm>
            <a:off x="428624" y="396874"/>
            <a:ext cx="2468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Experimental Items</a:t>
            </a:r>
          </a:p>
        </p:txBody>
      </p:sp>
      <p:sp>
        <p:nvSpPr>
          <p:cNvPr id="4" name="zL" descr="Editable shape; source id zL"/>
          <p:cNvSpPr/>
          <p:nvPr/>
        </p:nvSpPr>
        <p:spPr>
          <a:xfrm>
            <a:off x="6984999" y="317499"/>
            <a:ext cx="4889499" cy="7492999"/>
          </a:xfrm>
          <a:prstGeom prst="roundRect">
            <a:avLst>
              <a:gd name="adj" fmla="val 2272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L_l" descr="Editable text; source id zL_l"/>
          <p:cNvSpPr txBox="1"/>
          <p:nvPr/>
        </p:nvSpPr>
        <p:spPr>
          <a:xfrm>
            <a:off x="7127874" y="396874"/>
            <a:ext cx="2595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Literature Evidence</a:t>
            </a:r>
          </a:p>
        </p:txBody>
      </p:sp>
      <p:sp>
        <p:nvSpPr>
          <p:cNvPr id="6" name="hub" descr="Editable shape; source id hub"/>
          <p:cNvSpPr/>
          <p:nvPr/>
        </p:nvSpPr>
        <p:spPr>
          <a:xfrm>
            <a:off x="5222874" y="3016249"/>
            <a:ext cx="1746249" cy="2222499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hub_g_h0" descr="Editable line; source id hub_g_h0"/>
          <p:cNvCxnSpPr/>
          <p:nvPr/>
        </p:nvCxnSpPr>
        <p:spPr>
          <a:xfrm>
            <a:off x="5841999" y="3476624"/>
            <a:ext cx="508000" cy="0"/>
          </a:xfrm>
          <a:prstGeom prst="line">
            <a:avLst/>
          </a:prstGeom>
          <a:ln w="1587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hub_g_v0" descr="Editable line; source id hub_g_v0"/>
          <p:cNvCxnSpPr/>
          <p:nvPr/>
        </p:nvCxnSpPr>
        <p:spPr>
          <a:xfrm>
            <a:off x="5841999" y="3476624"/>
            <a:ext cx="0" cy="508000"/>
          </a:xfrm>
          <a:prstGeom prst="line">
            <a:avLst/>
          </a:prstGeom>
          <a:ln w="1587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hub_g_h1" descr="Editable line; source id hub_g_h1"/>
          <p:cNvCxnSpPr/>
          <p:nvPr/>
        </p:nvCxnSpPr>
        <p:spPr>
          <a:xfrm>
            <a:off x="5841999" y="3730624"/>
            <a:ext cx="508000" cy="0"/>
          </a:xfrm>
          <a:prstGeom prst="line">
            <a:avLst/>
          </a:prstGeom>
          <a:ln w="1587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hub_g_v1" descr="Editable line; source id hub_g_v1"/>
          <p:cNvCxnSpPr/>
          <p:nvPr/>
        </p:nvCxnSpPr>
        <p:spPr>
          <a:xfrm>
            <a:off x="6095999" y="3476624"/>
            <a:ext cx="0" cy="508000"/>
          </a:xfrm>
          <a:prstGeom prst="line">
            <a:avLst/>
          </a:prstGeom>
          <a:ln w="1587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ub_g_h2" descr="Editable line; source id hub_g_h2"/>
          <p:cNvCxnSpPr/>
          <p:nvPr/>
        </p:nvCxnSpPr>
        <p:spPr>
          <a:xfrm>
            <a:off x="5841999" y="3984624"/>
            <a:ext cx="508000" cy="0"/>
          </a:xfrm>
          <a:prstGeom prst="line">
            <a:avLst/>
          </a:prstGeom>
          <a:ln w="1587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ub_g_v2" descr="Editable line; source id hub_g_v2"/>
          <p:cNvCxnSpPr/>
          <p:nvPr/>
        </p:nvCxnSpPr>
        <p:spPr>
          <a:xfrm>
            <a:off x="6349999" y="3476624"/>
            <a:ext cx="0" cy="508000"/>
          </a:xfrm>
          <a:prstGeom prst="line">
            <a:avLst/>
          </a:prstGeom>
          <a:ln w="1587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ub_g_d00" descr="Editable shape; source id hub_g_d00"/>
          <p:cNvSpPr/>
          <p:nvPr/>
        </p:nvSpPr>
        <p:spPr>
          <a:xfrm>
            <a:off x="5786437" y="3421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ub_g_d01" descr="Editable shape; source id hub_g_d01"/>
          <p:cNvSpPr/>
          <p:nvPr/>
        </p:nvSpPr>
        <p:spPr>
          <a:xfrm>
            <a:off x="5786437" y="3675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ub_g_d02" descr="Editable shape; source id hub_g_d02"/>
          <p:cNvSpPr/>
          <p:nvPr/>
        </p:nvSpPr>
        <p:spPr>
          <a:xfrm>
            <a:off x="5786437" y="3929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ub_g_d10" descr="Editable shape; source id hub_g_d10"/>
          <p:cNvSpPr/>
          <p:nvPr/>
        </p:nvSpPr>
        <p:spPr>
          <a:xfrm>
            <a:off x="6040437" y="3421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ub_g_d11" descr="Editable shape; source id hub_g_d11"/>
          <p:cNvSpPr/>
          <p:nvPr/>
        </p:nvSpPr>
        <p:spPr>
          <a:xfrm>
            <a:off x="6040437" y="3675062"/>
            <a:ext cx="111124" cy="1111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b_g_d12" descr="Editable shape; source id hub_g_d12"/>
          <p:cNvSpPr/>
          <p:nvPr/>
        </p:nvSpPr>
        <p:spPr>
          <a:xfrm>
            <a:off x="6040437" y="3929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ub_g_d20" descr="Editable shape; source id hub_g_d20"/>
          <p:cNvSpPr/>
          <p:nvPr/>
        </p:nvSpPr>
        <p:spPr>
          <a:xfrm>
            <a:off x="6294437" y="3421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ub_g_d21" descr="Editable shape; source id hub_g_d21"/>
          <p:cNvSpPr/>
          <p:nvPr/>
        </p:nvSpPr>
        <p:spPr>
          <a:xfrm>
            <a:off x="6294437" y="3675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ub_g_d22" descr="Editable shape; source id hub_g_d22"/>
          <p:cNvSpPr/>
          <p:nvPr/>
        </p:nvSpPr>
        <p:spPr>
          <a:xfrm>
            <a:off x="6294437" y="3929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ub_t" descr="Editable text; source id hub_t"/>
          <p:cNvSpPr txBox="1"/>
          <p:nvPr/>
        </p:nvSpPr>
        <p:spPr>
          <a:xfrm>
            <a:off x="5286374" y="4302124"/>
            <a:ext cx="1619249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BaZn2Si2O7</a:t>
            </a:r>
          </a:p>
        </p:txBody>
      </p:sp>
      <p:sp>
        <p:nvSpPr>
          <p:cNvPr id="23" name="hub_s" descr="Editable text; source id hub_s"/>
          <p:cNvSpPr txBox="1"/>
          <p:nvPr/>
        </p:nvSpPr>
        <p:spPr>
          <a:xfrm>
            <a:off x="5381624" y="4714874"/>
            <a:ext cx="14287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Target phase</a:t>
            </a:r>
          </a:p>
        </p:txBody>
      </p:sp>
      <p:sp>
        <p:nvSpPr>
          <p:cNvPr id="24" name="e1" descr="Editable shape; source id e1"/>
          <p:cNvSpPr/>
          <p:nvPr/>
        </p:nvSpPr>
        <p:spPr>
          <a:xfrm>
            <a:off x="523874" y="952499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1_b" descr="Editable shape; source id e1_b"/>
          <p:cNvSpPr/>
          <p:nvPr/>
        </p:nvSpPr>
        <p:spPr>
          <a:xfrm>
            <a:off x="523874" y="952499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e1_g_h0" descr="Editable line; source id e1_g_h0"/>
          <p:cNvCxnSpPr/>
          <p:nvPr/>
        </p:nvCxnSpPr>
        <p:spPr>
          <a:xfrm>
            <a:off x="825499" y="1357312"/>
            <a:ext cx="26987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1_g_v0" descr="Editable line; source id e1_g_v0"/>
          <p:cNvCxnSpPr/>
          <p:nvPr/>
        </p:nvCxnSpPr>
        <p:spPr>
          <a:xfrm>
            <a:off x="825499" y="1357312"/>
            <a:ext cx="0" cy="27781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1_g_h1" descr="Editable line; source id e1_g_h1"/>
          <p:cNvCxnSpPr/>
          <p:nvPr/>
        </p:nvCxnSpPr>
        <p:spPr>
          <a:xfrm>
            <a:off x="825499" y="1492249"/>
            <a:ext cx="26987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1_g_v1" descr="Editable line; source id e1_g_v1"/>
          <p:cNvCxnSpPr/>
          <p:nvPr/>
        </p:nvCxnSpPr>
        <p:spPr>
          <a:xfrm>
            <a:off x="960437" y="1357312"/>
            <a:ext cx="0" cy="27781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1_g_h2" descr="Editable line; source id e1_g_h2"/>
          <p:cNvCxnSpPr/>
          <p:nvPr/>
        </p:nvCxnSpPr>
        <p:spPr>
          <a:xfrm>
            <a:off x="825499" y="1635124"/>
            <a:ext cx="26987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1_g_v2" descr="Editable line; source id e1_g_v2"/>
          <p:cNvCxnSpPr/>
          <p:nvPr/>
        </p:nvCxnSpPr>
        <p:spPr>
          <a:xfrm>
            <a:off x="1095374" y="1357312"/>
            <a:ext cx="0" cy="27781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1_g_d00" descr="Editable shape; source id e1_g_d00"/>
          <p:cNvSpPr/>
          <p:nvPr/>
        </p:nvSpPr>
        <p:spPr>
          <a:xfrm>
            <a:off x="793749" y="1325562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1_g_d01" descr="Editable shape; source id e1_g_d01"/>
          <p:cNvSpPr/>
          <p:nvPr/>
        </p:nvSpPr>
        <p:spPr>
          <a:xfrm>
            <a:off x="793749" y="1468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1_g_d02" descr="Editable shape; source id e1_g_d02"/>
          <p:cNvSpPr/>
          <p:nvPr/>
        </p:nvSpPr>
        <p:spPr>
          <a:xfrm>
            <a:off x="793749" y="1603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1_g_d10" descr="Editable shape; source id e1_g_d10"/>
          <p:cNvSpPr/>
          <p:nvPr/>
        </p:nvSpPr>
        <p:spPr>
          <a:xfrm>
            <a:off x="928687" y="1325562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1_g_d11" descr="Editable shape; source id e1_g_d11"/>
          <p:cNvSpPr/>
          <p:nvPr/>
        </p:nvSpPr>
        <p:spPr>
          <a:xfrm>
            <a:off x="928687" y="1468437"/>
            <a:ext cx="63499" cy="63499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1_g_d12" descr="Editable shape; source id e1_g_d12"/>
          <p:cNvSpPr/>
          <p:nvPr/>
        </p:nvSpPr>
        <p:spPr>
          <a:xfrm>
            <a:off x="928687" y="1603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1_g_d20" descr="Editable shape; source id e1_g_d20"/>
          <p:cNvSpPr/>
          <p:nvPr/>
        </p:nvSpPr>
        <p:spPr>
          <a:xfrm>
            <a:off x="1063624" y="1325562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1_g_d21" descr="Editable shape; source id e1_g_d21"/>
          <p:cNvSpPr/>
          <p:nvPr/>
        </p:nvSpPr>
        <p:spPr>
          <a:xfrm>
            <a:off x="1063624" y="1468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1_g_d22" descr="Editable shape; source id e1_g_d22"/>
          <p:cNvSpPr/>
          <p:nvPr/>
        </p:nvSpPr>
        <p:spPr>
          <a:xfrm>
            <a:off x="1063624" y="1603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1_t" descr="Editable text; source id e1_t"/>
          <p:cNvSpPr txBox="1"/>
          <p:nvPr/>
        </p:nvSpPr>
        <p:spPr>
          <a:xfrm>
            <a:off x="1269999" y="1325562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03"/>
              </a:lnSpc>
              <a:spcBef>
                <a:spcPts val="0"/>
              </a:spcBef>
              <a:spcAft>
                <a:spcPts val="0"/>
              </a:spcAft>
              <a:defRPr sz="145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45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Structure and Polymorphs</a:t>
            </a:r>
          </a:p>
        </p:txBody>
      </p:sp>
      <p:sp>
        <p:nvSpPr>
          <p:cNvPr id="42" name="e1_s" descr="Editable text; source id e1_s"/>
          <p:cNvSpPr txBox="1"/>
          <p:nvPr/>
        </p:nvSpPr>
        <p:spPr>
          <a:xfrm>
            <a:off x="1269999" y="1698624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Transition · sites</a:t>
            </a:r>
          </a:p>
        </p:txBody>
      </p:sp>
      <p:sp>
        <p:nvSpPr>
          <p:cNvPr id="43" name="e2" descr="Editable shape; source id e2"/>
          <p:cNvSpPr/>
          <p:nvPr/>
        </p:nvSpPr>
        <p:spPr>
          <a:xfrm>
            <a:off x="523874" y="2619374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2_b" descr="Editable shape; source id e2_b"/>
          <p:cNvSpPr/>
          <p:nvPr/>
        </p:nvSpPr>
        <p:spPr>
          <a:xfrm>
            <a:off x="523874" y="2619374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e2_g_n_0" descr="Editable line; source id e2_g_n_0"/>
          <p:cNvCxnSpPr/>
          <p:nvPr/>
        </p:nvCxnSpPr>
        <p:spPr>
          <a:xfrm>
            <a:off x="920749" y="2992437"/>
            <a:ext cx="0" cy="11906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2_g_n_1" descr="Editable line; source id e2_g_n_1"/>
          <p:cNvCxnSpPr/>
          <p:nvPr/>
        </p:nvCxnSpPr>
        <p:spPr>
          <a:xfrm flipH="1">
            <a:off x="809624" y="3111499"/>
            <a:ext cx="111125" cy="214313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2_g_n_2" descr="Editable line; source id e2_g_n_2"/>
          <p:cNvCxnSpPr/>
          <p:nvPr/>
        </p:nvCxnSpPr>
        <p:spPr>
          <a:xfrm>
            <a:off x="809624" y="3325812"/>
            <a:ext cx="30162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2_g_n_3" descr="Editable line; source id e2_g_n_3"/>
          <p:cNvCxnSpPr/>
          <p:nvPr/>
        </p:nvCxnSpPr>
        <p:spPr>
          <a:xfrm flipH="1" flipV="1">
            <a:off x="1000124" y="3111499"/>
            <a:ext cx="111125" cy="214313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2_g_n_4" descr="Editable line; source id e2_g_n_4"/>
          <p:cNvCxnSpPr/>
          <p:nvPr/>
        </p:nvCxnSpPr>
        <p:spPr>
          <a:xfrm flipV="1">
            <a:off x="1000124" y="2992437"/>
            <a:ext cx="0" cy="11906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2_g_m" descr="Editable line; source id e2_g_m"/>
          <p:cNvCxnSpPr/>
          <p:nvPr/>
        </p:nvCxnSpPr>
        <p:spPr>
          <a:xfrm>
            <a:off x="896937" y="2992437"/>
            <a:ext cx="127000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2_g_d1" descr="Editable shape; source id e2_g_d1"/>
          <p:cNvSpPr/>
          <p:nvPr/>
        </p:nvSpPr>
        <p:spPr>
          <a:xfrm>
            <a:off x="912812" y="3230562"/>
            <a:ext cx="31749" cy="31749"/>
          </a:xfrm>
          <a:prstGeom prst="ellipse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2_g_d2" descr="Editable shape; source id e2_g_d2"/>
          <p:cNvSpPr/>
          <p:nvPr/>
        </p:nvSpPr>
        <p:spPr>
          <a:xfrm>
            <a:off x="984249" y="3262312"/>
            <a:ext cx="23812" cy="23812"/>
          </a:xfrm>
          <a:prstGeom prst="ellipse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2_t" descr="Editable text; source id e2_t"/>
          <p:cNvSpPr txBox="1"/>
          <p:nvPr/>
        </p:nvSpPr>
        <p:spPr>
          <a:xfrm>
            <a:off x="1269999" y="2992437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Synthesis Routes</a:t>
            </a:r>
          </a:p>
        </p:txBody>
      </p:sp>
      <p:sp>
        <p:nvSpPr>
          <p:cNvPr id="54" name="e2_s" descr="Editable text; source id e2_s"/>
          <p:cNvSpPr txBox="1"/>
          <p:nvPr/>
        </p:nvSpPr>
        <p:spPr>
          <a:xfrm>
            <a:off x="1269999" y="3365499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Solid-state · sol–gel</a:t>
            </a:r>
          </a:p>
        </p:txBody>
      </p:sp>
      <p:sp>
        <p:nvSpPr>
          <p:cNvPr id="55" name="e3" descr="Editable shape; source id e3"/>
          <p:cNvSpPr/>
          <p:nvPr/>
        </p:nvSpPr>
        <p:spPr>
          <a:xfrm>
            <a:off x="523874" y="4286249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3_b" descr="Editable shape; source id e3_b"/>
          <p:cNvSpPr/>
          <p:nvPr/>
        </p:nvSpPr>
        <p:spPr>
          <a:xfrm>
            <a:off x="523874" y="4286249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3_g_t" descr="Editable shape; source id e3_g_t"/>
          <p:cNvSpPr/>
          <p:nvPr/>
        </p:nvSpPr>
        <p:spPr>
          <a:xfrm>
            <a:off x="920749" y="4651374"/>
            <a:ext cx="87312" cy="246062"/>
          </a:xfrm>
          <a:prstGeom prst="roundRect">
            <a:avLst>
              <a:gd name="adj" fmla="val 49090"/>
            </a:avLst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3_g_b" descr="Editable shape; source id e3_g_b"/>
          <p:cNvSpPr/>
          <p:nvPr/>
        </p:nvSpPr>
        <p:spPr>
          <a:xfrm>
            <a:off x="888999" y="4889499"/>
            <a:ext cx="134937" cy="134937"/>
          </a:xfrm>
          <a:prstGeom prst="ellipse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e3_g_m0" descr="Editable line; source id e3_g_m0"/>
          <p:cNvCxnSpPr/>
          <p:nvPr/>
        </p:nvCxnSpPr>
        <p:spPr>
          <a:xfrm>
            <a:off x="1008062" y="4714874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3_g_m1" descr="Editable line; source id e3_g_m1"/>
          <p:cNvCxnSpPr/>
          <p:nvPr/>
        </p:nvCxnSpPr>
        <p:spPr>
          <a:xfrm>
            <a:off x="1008062" y="4770437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3_g_m2" descr="Editable line; source id e3_g_m2"/>
          <p:cNvCxnSpPr/>
          <p:nvPr/>
        </p:nvCxnSpPr>
        <p:spPr>
          <a:xfrm>
            <a:off x="1008062" y="4818062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3_t" descr="Editable text; source id e3_t"/>
          <p:cNvSpPr txBox="1"/>
          <p:nvPr/>
        </p:nvSpPr>
        <p:spPr>
          <a:xfrm>
            <a:off x="1269999" y="4659312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39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39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Composition and Annealing</a:t>
            </a:r>
          </a:p>
        </p:txBody>
      </p:sp>
      <p:sp>
        <p:nvSpPr>
          <p:cNvPr id="63" name="e3_s" descr="Editable text; source id e3_s"/>
          <p:cNvSpPr txBox="1"/>
          <p:nvPr/>
        </p:nvSpPr>
        <p:spPr>
          <a:xfrm>
            <a:off x="1269999" y="5032374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Ba/Sr · Zn site</a:t>
            </a:r>
          </a:p>
        </p:txBody>
      </p:sp>
      <p:sp>
        <p:nvSpPr>
          <p:cNvPr id="64" name="e4" descr="Editable shape; source id e4"/>
          <p:cNvSpPr/>
          <p:nvPr/>
        </p:nvSpPr>
        <p:spPr>
          <a:xfrm>
            <a:off x="523874" y="5953124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4_b" descr="Editable shape; source id e4_b"/>
          <p:cNvSpPr/>
          <p:nvPr/>
        </p:nvSpPr>
        <p:spPr>
          <a:xfrm>
            <a:off x="523874" y="5953124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e4_g_a_0" descr="Editable line; source id e4_g_a_0"/>
          <p:cNvCxnSpPr/>
          <p:nvPr/>
        </p:nvCxnSpPr>
        <p:spPr>
          <a:xfrm flipH="1" flipV="1">
            <a:off x="849312" y="6476999"/>
            <a:ext cx="63500" cy="198438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4_g_a_1" descr="Editable line; source id e4_g_a_1"/>
          <p:cNvCxnSpPr/>
          <p:nvPr/>
        </p:nvCxnSpPr>
        <p:spPr>
          <a:xfrm flipV="1">
            <a:off x="849312" y="6365874"/>
            <a:ext cx="71437" cy="11112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4_g_a_2" descr="Editable line; source id e4_g_a_2"/>
          <p:cNvCxnSpPr/>
          <p:nvPr/>
        </p:nvCxnSpPr>
        <p:spPr>
          <a:xfrm>
            <a:off x="920749" y="6365874"/>
            <a:ext cx="47625" cy="12700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4_g_a_3" descr="Editable line; source id e4_g_a_3"/>
          <p:cNvCxnSpPr/>
          <p:nvPr/>
        </p:nvCxnSpPr>
        <p:spPr>
          <a:xfrm flipH="1">
            <a:off x="912812" y="6492874"/>
            <a:ext cx="55562" cy="182563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4_g_b_0" descr="Editable line; source id e4_g_b_0"/>
          <p:cNvCxnSpPr/>
          <p:nvPr/>
        </p:nvCxnSpPr>
        <p:spPr>
          <a:xfrm flipH="1" flipV="1">
            <a:off x="976312" y="6516687"/>
            <a:ext cx="31750" cy="15875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4_g_b_1" descr="Editable line; source id e4_g_b_1"/>
          <p:cNvCxnSpPr/>
          <p:nvPr/>
        </p:nvCxnSpPr>
        <p:spPr>
          <a:xfrm flipV="1">
            <a:off x="976312" y="6429374"/>
            <a:ext cx="63500" cy="87313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4_g_b_2" descr="Editable line; source id e4_g_b_2"/>
          <p:cNvCxnSpPr/>
          <p:nvPr/>
        </p:nvCxnSpPr>
        <p:spPr>
          <a:xfrm>
            <a:off x="1039812" y="6429374"/>
            <a:ext cx="47625" cy="103188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4_g_b_3" descr="Editable line; source id e4_g_b_3"/>
          <p:cNvCxnSpPr/>
          <p:nvPr/>
        </p:nvCxnSpPr>
        <p:spPr>
          <a:xfrm flipH="1">
            <a:off x="1055687" y="6532562"/>
            <a:ext cx="31750" cy="14287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4_t" descr="Editable text; source id e4_t"/>
          <p:cNvSpPr txBox="1"/>
          <p:nvPr/>
        </p:nvSpPr>
        <p:spPr>
          <a:xfrm>
            <a:off x="1269999" y="6326187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Glass Crystallization</a:t>
            </a:r>
          </a:p>
        </p:txBody>
      </p:sp>
      <p:sp>
        <p:nvSpPr>
          <p:cNvPr id="75" name="e4_s" descr="Editable text; source id e4_s"/>
          <p:cNvSpPr txBox="1"/>
          <p:nvPr/>
        </p:nvSpPr>
        <p:spPr>
          <a:xfrm>
            <a:off x="1269999" y="6699249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Nucleation · growth</a:t>
            </a:r>
          </a:p>
        </p:txBody>
      </p:sp>
      <p:sp>
        <p:nvSpPr>
          <p:cNvPr id="76" name="l1" descr="Editable shape; source id l1"/>
          <p:cNvSpPr/>
          <p:nvPr/>
        </p:nvSpPr>
        <p:spPr>
          <a:xfrm>
            <a:off x="7778749" y="1190624"/>
            <a:ext cx="3889374" cy="15874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1_b" descr="Editable shape; source id l1_b"/>
          <p:cNvSpPr/>
          <p:nvPr/>
        </p:nvSpPr>
        <p:spPr>
          <a:xfrm>
            <a:off x="7778749" y="1190624"/>
            <a:ext cx="63499" cy="1587499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1_g_a" descr="Editable shape; source id l1_g_a"/>
          <p:cNvSpPr/>
          <p:nvPr/>
        </p:nvSpPr>
        <p:spPr>
          <a:xfrm>
            <a:off x="8151812" y="1650999"/>
            <a:ext cx="119062" cy="119062"/>
          </a:xfrm>
          <a:prstGeom prst="rect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l1_g_b" descr="Editable shape; source id l1_g_b"/>
          <p:cNvSpPr/>
          <p:nvPr/>
        </p:nvSpPr>
        <p:spPr>
          <a:xfrm>
            <a:off x="8024812" y="1873249"/>
            <a:ext cx="119062" cy="119062"/>
          </a:xfrm>
          <a:prstGeom prst="rect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1_g_c" descr="Editable shape; source id l1_g_c"/>
          <p:cNvSpPr/>
          <p:nvPr/>
        </p:nvSpPr>
        <p:spPr>
          <a:xfrm>
            <a:off x="8286749" y="1873249"/>
            <a:ext cx="119062" cy="119062"/>
          </a:xfrm>
          <a:prstGeom prst="rect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l1_g_l" descr="Editable line; source id l1_g_l"/>
          <p:cNvCxnSpPr/>
          <p:nvPr/>
        </p:nvCxnSpPr>
        <p:spPr>
          <a:xfrm flipH="1">
            <a:off x="8088312" y="1770062"/>
            <a:ext cx="127000" cy="103187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1_g_r" descr="Editable line; source id l1_g_r"/>
          <p:cNvCxnSpPr/>
          <p:nvPr/>
        </p:nvCxnSpPr>
        <p:spPr>
          <a:xfrm>
            <a:off x="8215312" y="1770062"/>
            <a:ext cx="127000" cy="103187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l1_t" descr="Editable text; source id l1_t"/>
          <p:cNvSpPr txBox="1"/>
          <p:nvPr/>
        </p:nvSpPr>
        <p:spPr>
          <a:xfrm>
            <a:off x="8524874" y="1666874"/>
            <a:ext cx="2984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Neighbor Systems</a:t>
            </a:r>
          </a:p>
        </p:txBody>
      </p:sp>
      <p:sp>
        <p:nvSpPr>
          <p:cNvPr id="84" name="l1_s" descr="Editable text; source id l1_s"/>
          <p:cNvSpPr txBox="1"/>
          <p:nvPr/>
        </p:nvSpPr>
        <p:spPr>
          <a:xfrm>
            <a:off x="8524874" y="2024062"/>
            <a:ext cx="2984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Ba2ZnSi2O7 family</a:t>
            </a:r>
          </a:p>
        </p:txBody>
      </p:sp>
      <p:sp>
        <p:nvSpPr>
          <p:cNvPr id="85" name="l2" descr="Editable shape; source id l2"/>
          <p:cNvSpPr/>
          <p:nvPr/>
        </p:nvSpPr>
        <p:spPr>
          <a:xfrm>
            <a:off x="7778749" y="3413124"/>
            <a:ext cx="3889374" cy="15874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2_b" descr="Editable shape; source id l2_b"/>
          <p:cNvSpPr/>
          <p:nvPr/>
        </p:nvSpPr>
        <p:spPr>
          <a:xfrm>
            <a:off x="7778749" y="3413124"/>
            <a:ext cx="63499" cy="1587499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l2_g_b" descr="Editable shape; source id l2_g_b"/>
          <p:cNvSpPr/>
          <p:nvPr/>
        </p:nvSpPr>
        <p:spPr>
          <a:xfrm>
            <a:off x="8048624" y="3921124"/>
            <a:ext cx="325437" cy="261937"/>
          </a:xfrm>
          <a:prstGeom prst="rect">
            <a:avLst/>
          </a:prstGeom>
          <a:noFill/>
          <a:ln w="8572">
            <a:solidFill>
              <a:srgbClr val="1F2937"/>
            </a:solidFill>
            <a:custDash>
              <a:ds d="350000" sp="3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l2_t" descr="Editable text; source id l2_t"/>
          <p:cNvSpPr txBox="1"/>
          <p:nvPr/>
        </p:nvSpPr>
        <p:spPr>
          <a:xfrm>
            <a:off x="8524874" y="3889374"/>
            <a:ext cx="2984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Evidence Boundary</a:t>
            </a:r>
          </a:p>
        </p:txBody>
      </p:sp>
      <p:sp>
        <p:nvSpPr>
          <p:cNvPr id="89" name="l2_s" descr="Editable text; source id l2_s"/>
          <p:cNvSpPr txBox="1"/>
          <p:nvPr/>
        </p:nvSpPr>
        <p:spPr>
          <a:xfrm>
            <a:off x="8524874" y="4246562"/>
            <a:ext cx="2984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Direct / near / implied</a:t>
            </a:r>
          </a:p>
        </p:txBody>
      </p:sp>
      <p:sp>
        <p:nvSpPr>
          <p:cNvPr id="90" name="l3" descr="Editable shape; source id l3"/>
          <p:cNvSpPr/>
          <p:nvPr/>
        </p:nvSpPr>
        <p:spPr>
          <a:xfrm>
            <a:off x="7778749" y="5635624"/>
            <a:ext cx="3889374" cy="1587499"/>
          </a:xfrm>
          <a:prstGeom prst="roundRect">
            <a:avLst>
              <a:gd name="adj" fmla="val 4500"/>
            </a:avLst>
          </a:prstGeom>
          <a:solidFill>
            <a:srgbClr val="FFFAF0"/>
          </a:solidFill>
          <a:ln w="11112">
            <a:solidFill>
              <a:srgbClr val="C48A24"/>
            </a:solidFill>
            <a:custDash>
              <a:ds d="857143" sp="57142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3_g_a" descr="Editable shape; source id l3_g_a"/>
          <p:cNvSpPr/>
          <p:nvPr/>
        </p:nvSpPr>
        <p:spPr>
          <a:xfrm>
            <a:off x="8151812" y="6095999"/>
            <a:ext cx="119062" cy="119062"/>
          </a:xfrm>
          <a:prstGeom prst="rect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l3_g_b" descr="Editable shape; source id l3_g_b"/>
          <p:cNvSpPr/>
          <p:nvPr/>
        </p:nvSpPr>
        <p:spPr>
          <a:xfrm>
            <a:off x="8024812" y="6318249"/>
            <a:ext cx="119062" cy="119062"/>
          </a:xfrm>
          <a:prstGeom prst="rect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l3_g_c" descr="Editable shape; source id l3_g_c"/>
          <p:cNvSpPr/>
          <p:nvPr/>
        </p:nvSpPr>
        <p:spPr>
          <a:xfrm>
            <a:off x="8286749" y="6318249"/>
            <a:ext cx="119062" cy="119062"/>
          </a:xfrm>
          <a:prstGeom prst="rect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l3_g_l" descr="Editable line; source id l3_g_l"/>
          <p:cNvCxnSpPr/>
          <p:nvPr/>
        </p:nvCxnSpPr>
        <p:spPr>
          <a:xfrm flipH="1">
            <a:off x="8088312" y="6215062"/>
            <a:ext cx="127000" cy="103187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l3_g_r" descr="Editable line; source id l3_g_r"/>
          <p:cNvCxnSpPr/>
          <p:nvPr/>
        </p:nvCxnSpPr>
        <p:spPr>
          <a:xfrm>
            <a:off x="8215312" y="6215062"/>
            <a:ext cx="127000" cy="103187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l3_t" descr="Editable text; source id l3_t"/>
          <p:cNvSpPr txBox="1"/>
          <p:nvPr/>
        </p:nvSpPr>
        <p:spPr>
          <a:xfrm>
            <a:off x="8524874" y="6111874"/>
            <a:ext cx="2984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97" name="l3_s" descr="Editable text; source id l3_s"/>
          <p:cNvSpPr txBox="1"/>
          <p:nvPr/>
        </p:nvSpPr>
        <p:spPr>
          <a:xfrm>
            <a:off x="8524874" y="6469062"/>
            <a:ext cx="2984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No direct report</a:t>
            </a:r>
          </a:p>
        </p:txBody>
      </p:sp>
      <p:cxnSp>
        <p:nvCxnSpPr>
          <p:cNvPr id="98" name="sl_0" descr="Editable line; source id sl_0"/>
          <p:cNvCxnSpPr/>
          <p:nvPr/>
        </p:nvCxnSpPr>
        <p:spPr>
          <a:xfrm flipH="1">
            <a:off x="4762499" y="4063999"/>
            <a:ext cx="428625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lv_0" descr="Editable line; source id slv_0"/>
          <p:cNvCxnSpPr/>
          <p:nvPr/>
        </p:nvCxnSpPr>
        <p:spPr>
          <a:xfrm>
            <a:off x="4762499" y="1650999"/>
            <a:ext cx="0" cy="5000625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s_e1_0" descr="Editable line; source id s_e1_0"/>
          <p:cNvSpPr/>
          <p:nvPr/>
        </p:nvSpPr>
        <p:spPr>
          <a:xfrm>
            <a:off x="4206875" y="1611312"/>
            <a:ext cx="555625" cy="79375"/>
          </a:xfrm>
          <a:custGeom>
            <a:avLst/>
            <a:gdLst/>
            <a:ahLst/>
            <a:cxnLst/>
            <a:rect l="l" t="t" r="r" b="b"/>
            <a:pathLst>
              <a:path w="70000" h="10000">
                <a:moveTo>
                  <a:pt x="70000" y="5900"/>
                </a:moveTo>
                <a:lnTo>
                  <a:pt x="12000" y="5900"/>
                </a:lnTo>
                <a:lnTo>
                  <a:pt x="12000" y="10000"/>
                </a:lnTo>
                <a:lnTo>
                  <a:pt x="0" y="5000"/>
                </a:lnTo>
                <a:lnTo>
                  <a:pt x="12000" y="0"/>
                </a:lnTo>
                <a:lnTo>
                  <a:pt x="12000" y="4100"/>
                </a:lnTo>
                <a:lnTo>
                  <a:pt x="70000" y="41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_e1_p" descr="Editable shape; source id s_e1_p"/>
          <p:cNvSpPr/>
          <p:nvPr/>
        </p:nvSpPr>
        <p:spPr>
          <a:xfrm>
            <a:off x="3984624" y="1206499"/>
            <a:ext cx="99218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_e1_p_t" descr="Editable text; source id s_e1_p_t"/>
          <p:cNvSpPr txBox="1"/>
          <p:nvPr/>
        </p:nvSpPr>
        <p:spPr>
          <a:xfrm>
            <a:off x="4063999" y="1238249"/>
            <a:ext cx="8334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Structure</a:t>
            </a:r>
          </a:p>
        </p:txBody>
      </p:sp>
      <p:sp>
        <p:nvSpPr>
          <p:cNvPr id="103" name="s_e2_0" descr="Editable line; source id s_e2_0"/>
          <p:cNvSpPr/>
          <p:nvPr/>
        </p:nvSpPr>
        <p:spPr>
          <a:xfrm>
            <a:off x="4206875" y="3278187"/>
            <a:ext cx="555625" cy="79375"/>
          </a:xfrm>
          <a:custGeom>
            <a:avLst/>
            <a:gdLst/>
            <a:ahLst/>
            <a:cxnLst/>
            <a:rect l="l" t="t" r="r" b="b"/>
            <a:pathLst>
              <a:path w="70000" h="10000">
                <a:moveTo>
                  <a:pt x="70000" y="5900"/>
                </a:moveTo>
                <a:lnTo>
                  <a:pt x="12000" y="5900"/>
                </a:lnTo>
                <a:lnTo>
                  <a:pt x="12000" y="10000"/>
                </a:lnTo>
                <a:lnTo>
                  <a:pt x="0" y="5000"/>
                </a:lnTo>
                <a:lnTo>
                  <a:pt x="12000" y="0"/>
                </a:lnTo>
                <a:lnTo>
                  <a:pt x="12000" y="4100"/>
                </a:lnTo>
                <a:lnTo>
                  <a:pt x="70000" y="41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_e2_p" descr="Editable shape; source id s_e2_p"/>
          <p:cNvSpPr/>
          <p:nvPr/>
        </p:nvSpPr>
        <p:spPr>
          <a:xfrm>
            <a:off x="3905249" y="2873374"/>
            <a:ext cx="1150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_e2_p_t" descr="Editable text; source id s_e2_p_t"/>
          <p:cNvSpPr txBox="1"/>
          <p:nvPr/>
        </p:nvSpPr>
        <p:spPr>
          <a:xfrm>
            <a:off x="3984624" y="2905124"/>
            <a:ext cx="992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Preparation</a:t>
            </a:r>
          </a:p>
        </p:txBody>
      </p:sp>
      <p:sp>
        <p:nvSpPr>
          <p:cNvPr id="106" name="s_e3_0" descr="Editable line; source id s_e3_0"/>
          <p:cNvSpPr/>
          <p:nvPr/>
        </p:nvSpPr>
        <p:spPr>
          <a:xfrm>
            <a:off x="4206875" y="4945062"/>
            <a:ext cx="555625" cy="79375"/>
          </a:xfrm>
          <a:custGeom>
            <a:avLst/>
            <a:gdLst/>
            <a:ahLst/>
            <a:cxnLst/>
            <a:rect l="l" t="t" r="r" b="b"/>
            <a:pathLst>
              <a:path w="70000" h="10000">
                <a:moveTo>
                  <a:pt x="70000" y="5900"/>
                </a:moveTo>
                <a:lnTo>
                  <a:pt x="12000" y="5900"/>
                </a:lnTo>
                <a:lnTo>
                  <a:pt x="12000" y="10000"/>
                </a:lnTo>
                <a:lnTo>
                  <a:pt x="0" y="5000"/>
                </a:lnTo>
                <a:lnTo>
                  <a:pt x="12000" y="0"/>
                </a:lnTo>
                <a:lnTo>
                  <a:pt x="12000" y="4100"/>
                </a:lnTo>
                <a:lnTo>
                  <a:pt x="70000" y="41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_e3_p" descr="Editable shape; source id s_e3_p"/>
          <p:cNvSpPr/>
          <p:nvPr/>
        </p:nvSpPr>
        <p:spPr>
          <a:xfrm>
            <a:off x="3984624" y="4540249"/>
            <a:ext cx="99218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_e3_p_t" descr="Editable text; source id s_e3_p_t"/>
          <p:cNvSpPr txBox="1"/>
          <p:nvPr/>
        </p:nvSpPr>
        <p:spPr>
          <a:xfrm>
            <a:off x="4063999" y="4571999"/>
            <a:ext cx="8334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Variables</a:t>
            </a:r>
          </a:p>
        </p:txBody>
      </p:sp>
      <p:sp>
        <p:nvSpPr>
          <p:cNvPr id="109" name="s_e4_0" descr="Editable line; source id s_e4_0"/>
          <p:cNvSpPr/>
          <p:nvPr/>
        </p:nvSpPr>
        <p:spPr>
          <a:xfrm>
            <a:off x="4206875" y="6611937"/>
            <a:ext cx="555625" cy="79375"/>
          </a:xfrm>
          <a:custGeom>
            <a:avLst/>
            <a:gdLst/>
            <a:ahLst/>
            <a:cxnLst/>
            <a:rect l="l" t="t" r="r" b="b"/>
            <a:pathLst>
              <a:path w="70000" h="10000">
                <a:moveTo>
                  <a:pt x="70000" y="5900"/>
                </a:moveTo>
                <a:lnTo>
                  <a:pt x="12000" y="5900"/>
                </a:lnTo>
                <a:lnTo>
                  <a:pt x="12000" y="10000"/>
                </a:lnTo>
                <a:lnTo>
                  <a:pt x="0" y="5000"/>
                </a:lnTo>
                <a:lnTo>
                  <a:pt x="12000" y="0"/>
                </a:lnTo>
                <a:lnTo>
                  <a:pt x="12000" y="4100"/>
                </a:lnTo>
                <a:lnTo>
                  <a:pt x="70000" y="41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_e4_p" descr="Editable shape; source id s_e4_p"/>
          <p:cNvSpPr/>
          <p:nvPr/>
        </p:nvSpPr>
        <p:spPr>
          <a:xfrm>
            <a:off x="3754437" y="6207124"/>
            <a:ext cx="1460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_e4_p_t" descr="Editable text; source id s_e4_p_t"/>
          <p:cNvSpPr txBox="1"/>
          <p:nvPr/>
        </p:nvSpPr>
        <p:spPr>
          <a:xfrm>
            <a:off x="3833812" y="6238874"/>
            <a:ext cx="1301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Crystallization</a:t>
            </a:r>
          </a:p>
        </p:txBody>
      </p:sp>
      <p:cxnSp>
        <p:nvCxnSpPr>
          <p:cNvPr id="112" name="sr_0" descr="Editable line; source id sr_0"/>
          <p:cNvCxnSpPr/>
          <p:nvPr/>
        </p:nvCxnSpPr>
        <p:spPr>
          <a:xfrm>
            <a:off x="7000874" y="4063999"/>
            <a:ext cx="142875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rv_0" descr="Editable line; source id srv_0"/>
          <p:cNvCxnSpPr/>
          <p:nvPr/>
        </p:nvCxnSpPr>
        <p:spPr>
          <a:xfrm>
            <a:off x="7143749" y="1984374"/>
            <a:ext cx="0" cy="444500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v_l1_0" descr="Editable line; source id v_l1_0"/>
          <p:cNvSpPr/>
          <p:nvPr/>
        </p:nvSpPr>
        <p:spPr>
          <a:xfrm>
            <a:off x="7143750" y="1944687"/>
            <a:ext cx="603250" cy="79375"/>
          </a:xfrm>
          <a:custGeom>
            <a:avLst/>
            <a:gdLst/>
            <a:ahLst/>
            <a:cxnLst/>
            <a:rect l="l" t="t" r="r" b="b"/>
            <a:pathLst>
              <a:path w="76000" h="10000">
                <a:moveTo>
                  <a:pt x="0" y="4100"/>
                </a:moveTo>
                <a:lnTo>
                  <a:pt x="64000" y="4100"/>
                </a:lnTo>
                <a:lnTo>
                  <a:pt x="64000" y="0"/>
                </a:lnTo>
                <a:lnTo>
                  <a:pt x="76000" y="5000"/>
                </a:lnTo>
                <a:lnTo>
                  <a:pt x="64000" y="10000"/>
                </a:lnTo>
                <a:lnTo>
                  <a:pt x="64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v_l1_p" descr="Editable shape; source id v_l1_p"/>
          <p:cNvSpPr/>
          <p:nvPr/>
        </p:nvSpPr>
        <p:spPr>
          <a:xfrm>
            <a:off x="6953249" y="1539874"/>
            <a:ext cx="99218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v_l1_p_t" descr="Editable text; source id v_l1_p_t"/>
          <p:cNvSpPr txBox="1"/>
          <p:nvPr/>
        </p:nvSpPr>
        <p:spPr>
          <a:xfrm>
            <a:off x="7032624" y="1571624"/>
            <a:ext cx="8334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Neighbors</a:t>
            </a:r>
          </a:p>
        </p:txBody>
      </p:sp>
      <p:sp>
        <p:nvSpPr>
          <p:cNvPr id="117" name="v_l2_0" descr="Editable line; source id v_l2_0"/>
          <p:cNvSpPr/>
          <p:nvPr/>
        </p:nvSpPr>
        <p:spPr>
          <a:xfrm>
            <a:off x="7143750" y="4167187"/>
            <a:ext cx="603250" cy="79375"/>
          </a:xfrm>
          <a:custGeom>
            <a:avLst/>
            <a:gdLst/>
            <a:ahLst/>
            <a:cxnLst/>
            <a:rect l="l" t="t" r="r" b="b"/>
            <a:pathLst>
              <a:path w="76000" h="10000">
                <a:moveTo>
                  <a:pt x="0" y="4100"/>
                </a:moveTo>
                <a:lnTo>
                  <a:pt x="64000" y="4100"/>
                </a:lnTo>
                <a:lnTo>
                  <a:pt x="64000" y="0"/>
                </a:lnTo>
                <a:lnTo>
                  <a:pt x="76000" y="5000"/>
                </a:lnTo>
                <a:lnTo>
                  <a:pt x="64000" y="10000"/>
                </a:lnTo>
                <a:lnTo>
                  <a:pt x="64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v_l2_p" descr="Editable shape; source id v_l2_p"/>
          <p:cNvSpPr/>
          <p:nvPr/>
        </p:nvSpPr>
        <p:spPr>
          <a:xfrm>
            <a:off x="6754812" y="3762374"/>
            <a:ext cx="1381124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v_l2_p_t" descr="Editable text; source id v_l2_p_t"/>
          <p:cNvSpPr txBox="1"/>
          <p:nvPr/>
        </p:nvSpPr>
        <p:spPr>
          <a:xfrm>
            <a:off x="6834187" y="3794124"/>
            <a:ext cx="122237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Interpretation</a:t>
            </a:r>
          </a:p>
        </p:txBody>
      </p:sp>
      <p:cxnSp>
        <p:nvCxnSpPr>
          <p:cNvPr id="120" name="v_l3_0" descr="Editable line; source id v_l3_0"/>
          <p:cNvCxnSpPr/>
          <p:nvPr/>
        </p:nvCxnSpPr>
        <p:spPr>
          <a:xfrm>
            <a:off x="7143749" y="6429374"/>
            <a:ext cx="603250" cy="0"/>
          </a:xfrm>
          <a:prstGeom prst="line">
            <a:avLst/>
          </a:prstGeom>
          <a:ln w="14287">
            <a:solidFill>
              <a:srgbClr val="C48A24"/>
            </a:solidFill>
            <a:custDash>
              <a:ds d="611111" sp="388889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v_l3_p" descr="Editable shape; source id v_l3_p"/>
          <p:cNvSpPr/>
          <p:nvPr/>
        </p:nvSpPr>
        <p:spPr>
          <a:xfrm>
            <a:off x="7032624" y="5984874"/>
            <a:ext cx="833437" cy="309562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873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v_l3_p_t" descr="Editable text; source id v_l3_p_t"/>
          <p:cNvSpPr txBox="1"/>
          <p:nvPr/>
        </p:nvSpPr>
        <p:spPr>
          <a:xfrm>
            <a:off x="7111999" y="6016624"/>
            <a:ext cx="6746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Analogy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