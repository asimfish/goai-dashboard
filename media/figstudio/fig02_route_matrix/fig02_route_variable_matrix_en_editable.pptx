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812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2 · Condition comparison across synthesis routes and product characterization (round 5, F01).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zT" descr="Editable shape; source id zT"/>
          <p:cNvSpPr/>
          <p:nvPr/>
        </p:nvSpPr>
        <p:spPr>
          <a:xfrm>
            <a:off x="206374" y="222249"/>
            <a:ext cx="11779249" cy="3190874"/>
          </a:xfrm>
          <a:prstGeom prst="roundRect">
            <a:avLst>
              <a:gd name="adj" fmla="val 3482"/>
            </a:avLst>
          </a:prstGeom>
          <a:solidFill>
            <a:srgbClr val="E6F2F3"/>
          </a:solidFill>
          <a:ln w="9524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zT_l" descr="Editable text; source id zT_l"/>
          <p:cNvSpPr txBox="1"/>
          <p:nvPr/>
        </p:nvSpPr>
        <p:spPr>
          <a:xfrm>
            <a:off x="349249" y="301624"/>
            <a:ext cx="2468562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06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624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Experimental Items</a:t>
            </a:r>
          </a:p>
        </p:txBody>
      </p:sp>
      <p:sp>
        <p:nvSpPr>
          <p:cNvPr id="4" name="zM" descr="Editable shape; source id zM"/>
          <p:cNvSpPr/>
          <p:nvPr/>
        </p:nvSpPr>
        <p:spPr>
          <a:xfrm>
            <a:off x="206374" y="3587749"/>
            <a:ext cx="11779249" cy="1952624"/>
          </a:xfrm>
          <a:prstGeom prst="roundRect">
            <a:avLst>
              <a:gd name="adj" fmla="val 5691"/>
            </a:avLst>
          </a:prstGeom>
          <a:solidFill>
            <a:srgbClr val="EEF2F7"/>
          </a:solidFill>
          <a:ln w="9524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zM_l" descr="Editable text; source id zM_l"/>
          <p:cNvSpPr txBox="1"/>
          <p:nvPr/>
        </p:nvSpPr>
        <p:spPr>
          <a:xfrm>
            <a:off x="349249" y="3667124"/>
            <a:ext cx="2595562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06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1624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Literature Evidence</a:t>
            </a:r>
          </a:p>
        </p:txBody>
      </p:sp>
      <p:sp>
        <p:nvSpPr>
          <p:cNvPr id="6" name="zB" descr="Editable shape; source id zB"/>
          <p:cNvSpPr/>
          <p:nvPr/>
        </p:nvSpPr>
        <p:spPr>
          <a:xfrm>
            <a:off x="206374" y="5778499"/>
            <a:ext cx="11779249" cy="2127249"/>
          </a:xfrm>
          <a:prstGeom prst="roundRect">
            <a:avLst>
              <a:gd name="adj" fmla="val 5223"/>
            </a:avLst>
          </a:prstGeom>
          <a:solidFill>
            <a:srgbClr val="E6F2F3"/>
          </a:solidFill>
          <a:ln w="9524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zB_l" descr="Editable text; source id zB_l"/>
          <p:cNvSpPr txBox="1"/>
          <p:nvPr/>
        </p:nvSpPr>
        <p:spPr>
          <a:xfrm>
            <a:off x="349249" y="5857874"/>
            <a:ext cx="2278062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06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624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Characterization</a:t>
            </a:r>
          </a:p>
        </p:txBody>
      </p:sp>
      <p:sp>
        <p:nvSpPr>
          <p:cNvPr id="8" name="leg" descr="Editable shape; source id leg"/>
          <p:cNvSpPr/>
          <p:nvPr/>
        </p:nvSpPr>
        <p:spPr>
          <a:xfrm>
            <a:off x="9699624" y="317499"/>
            <a:ext cx="2444749" cy="309562"/>
          </a:xfrm>
          <a:prstGeom prst="roundRect">
            <a:avLst>
              <a:gd name="adj" fmla="val 50000"/>
            </a:avLst>
          </a:prstGeom>
          <a:solidFill>
            <a:srgbClr val="F5F6F7"/>
          </a:solidFill>
          <a:ln w="8731">
            <a:solidFill>
              <a:srgbClr val="9AA3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g_t" descr="Editable text; source id leg_t"/>
          <p:cNvSpPr txBox="1"/>
          <p:nvPr/>
        </p:nvSpPr>
        <p:spPr>
          <a:xfrm>
            <a:off x="9778999" y="349249"/>
            <a:ext cx="2285999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5B6570"/>
                </a:solidFill>
                <a:latin typeface="DejaVu Sans"/>
                <a:ea typeface="DejaVu Sans"/>
                <a:cs typeface="DejaVu Sans"/>
              </a:defRPr>
            </a:pPr>
            <a:r>
              <a:rPr sz="1124" b="0" i="0" lang="zh-CN" dirty="0">
                <a:solidFill>
                  <a:srgbClr val="5B6570"/>
                </a:solidFill>
                <a:latin typeface="DejaVu Sans"/>
                <a:ea typeface="DejaVu Sans"/>
                <a:cs typeface="DejaVu Sans"/>
              </a:rPr>
              <a:t>Dashed = process reference</a:t>
            </a:r>
          </a:p>
        </p:txBody>
      </p:sp>
      <p:sp>
        <p:nvSpPr>
          <p:cNvPr id="10" name="r1" descr="Editable shape; source id r1"/>
          <p:cNvSpPr/>
          <p:nvPr/>
        </p:nvSpPr>
        <p:spPr>
          <a:xfrm>
            <a:off x="396874" y="793749"/>
            <a:ext cx="2206624" cy="2381249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1_b" descr="Editable shape; source id r1_b"/>
          <p:cNvSpPr/>
          <p:nvPr/>
        </p:nvSpPr>
        <p:spPr>
          <a:xfrm>
            <a:off x="396874" y="793749"/>
            <a:ext cx="55562" cy="2381249"/>
          </a:xfrm>
          <a:prstGeom prst="roundRect">
            <a:avLst>
              <a:gd name="adj" fmla="val 42857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1_t" descr="Editable text; source id r1_t"/>
          <p:cNvSpPr txBox="1"/>
          <p:nvPr/>
        </p:nvSpPr>
        <p:spPr>
          <a:xfrm>
            <a:off x="523874" y="904874"/>
            <a:ext cx="1952624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499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External Flux</a:t>
            </a:r>
          </a:p>
        </p:txBody>
      </p:sp>
      <p:cxnSp>
        <p:nvCxnSpPr>
          <p:cNvPr id="13" name="r1_g_b_0" descr="Editable line; source id r1_g_b_0"/>
          <p:cNvCxnSpPr/>
          <p:nvPr/>
        </p:nvCxnSpPr>
        <p:spPr>
          <a:xfrm>
            <a:off x="1381124" y="1325562"/>
            <a:ext cx="0" cy="333375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r1_g_b_1" descr="Editable line; source id r1_g_b_1"/>
          <p:cNvCxnSpPr/>
          <p:nvPr/>
        </p:nvCxnSpPr>
        <p:spPr>
          <a:xfrm>
            <a:off x="1381124" y="1658937"/>
            <a:ext cx="55563" cy="31750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r1_g_b_2" descr="Editable line; source id r1_g_b_2"/>
          <p:cNvCxnSpPr/>
          <p:nvPr/>
        </p:nvCxnSpPr>
        <p:spPr>
          <a:xfrm>
            <a:off x="1436687" y="1690687"/>
            <a:ext cx="127000" cy="0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r1_g_b_3" descr="Editable line; source id r1_g_b_3"/>
          <p:cNvCxnSpPr/>
          <p:nvPr/>
        </p:nvCxnSpPr>
        <p:spPr>
          <a:xfrm flipV="1">
            <a:off x="1563687" y="1658937"/>
            <a:ext cx="55562" cy="31750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r1_g_b_4" descr="Editable line; source id r1_g_b_4"/>
          <p:cNvCxnSpPr/>
          <p:nvPr/>
        </p:nvCxnSpPr>
        <p:spPr>
          <a:xfrm flipV="1">
            <a:off x="1619249" y="1325562"/>
            <a:ext cx="0" cy="333375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r1_g_t" descr="Editable line; source id r1_g_t"/>
          <p:cNvCxnSpPr/>
          <p:nvPr/>
        </p:nvCxnSpPr>
        <p:spPr>
          <a:xfrm>
            <a:off x="1349374" y="1325562"/>
            <a:ext cx="301625" cy="0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1_g_d1" descr="Editable shape; source id r1_g_d1"/>
          <p:cNvSpPr/>
          <p:nvPr/>
        </p:nvSpPr>
        <p:spPr>
          <a:xfrm>
            <a:off x="1444624" y="1523999"/>
            <a:ext cx="39687" cy="39687"/>
          </a:xfrm>
          <a:prstGeom prst="ellipse">
            <a:avLst/>
          </a:prstGeom>
          <a:noFill/>
          <a:ln w="920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1_g_d2" descr="Editable shape; source id r1_g_d2"/>
          <p:cNvSpPr/>
          <p:nvPr/>
        </p:nvSpPr>
        <p:spPr>
          <a:xfrm>
            <a:off x="1523999" y="1579562"/>
            <a:ext cx="23812" cy="23812"/>
          </a:xfrm>
          <a:prstGeom prst="ellipse">
            <a:avLst/>
          </a:prstGeom>
          <a:noFill/>
          <a:ln w="920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1c_t0" descr="Editable shape; source id r1c_t0"/>
          <p:cNvSpPr/>
          <p:nvPr/>
        </p:nvSpPr>
        <p:spPr>
          <a:xfrm>
            <a:off x="539749" y="18573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1c_t0_t" descr="Editable text; source id r1c_t0_t"/>
          <p:cNvSpPr txBox="1"/>
          <p:nvPr/>
        </p:nvSpPr>
        <p:spPr>
          <a:xfrm>
            <a:off x="595312" y="18891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Dissolve</a:t>
            </a:r>
          </a:p>
        </p:txBody>
      </p:sp>
      <p:sp>
        <p:nvSpPr>
          <p:cNvPr id="23" name="r1c_t1" descr="Editable shape; source id r1c_t1"/>
          <p:cNvSpPr/>
          <p:nvPr/>
        </p:nvSpPr>
        <p:spPr>
          <a:xfrm>
            <a:off x="539749" y="23018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1c_t1_t" descr="Editable text; source id r1c_t1_t"/>
          <p:cNvSpPr txBox="1"/>
          <p:nvPr/>
        </p:nvSpPr>
        <p:spPr>
          <a:xfrm>
            <a:off x="595312" y="23336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Dwell</a:t>
            </a:r>
          </a:p>
        </p:txBody>
      </p:sp>
      <p:sp>
        <p:nvSpPr>
          <p:cNvPr id="25" name="r1c_a1" descr="Editable line; source id r1c_a1"/>
          <p:cNvSpPr/>
          <p:nvPr/>
        </p:nvSpPr>
        <p:spPr>
          <a:xfrm>
            <a:off x="1476613" y="2182812"/>
            <a:ext cx="47149" cy="95250"/>
          </a:xfrm>
          <a:custGeom>
            <a:avLst/>
            <a:gdLst/>
            <a:ahLst/>
            <a:cxnLst/>
            <a:rect l="l" t="t" r="r" b="b"/>
            <a:pathLst>
              <a:path w="5940" h="12000">
                <a:moveTo>
                  <a:pt x="3770" y="0"/>
                </a:moveTo>
                <a:lnTo>
                  <a:pt x="3770" y="5400"/>
                </a:lnTo>
                <a:lnTo>
                  <a:pt x="5940" y="5400"/>
                </a:lnTo>
                <a:lnTo>
                  <a:pt x="2970" y="12000"/>
                </a:lnTo>
                <a:lnTo>
                  <a:pt x="0" y="5400"/>
                </a:lnTo>
                <a:lnTo>
                  <a:pt x="2170" y="5400"/>
                </a:lnTo>
                <a:lnTo>
                  <a:pt x="217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1c_t2" descr="Editable shape; source id r1c_t2"/>
          <p:cNvSpPr/>
          <p:nvPr/>
        </p:nvSpPr>
        <p:spPr>
          <a:xfrm>
            <a:off x="539749" y="27463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1c_t2_t" descr="Editable text; source id r1c_t2_t"/>
          <p:cNvSpPr txBox="1"/>
          <p:nvPr/>
        </p:nvSpPr>
        <p:spPr>
          <a:xfrm>
            <a:off x="595312" y="27781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Slow cool, separate</a:t>
            </a:r>
          </a:p>
        </p:txBody>
      </p:sp>
      <p:sp>
        <p:nvSpPr>
          <p:cNvPr id="28" name="r1c_a2" descr="Editable line; source id r1c_a2"/>
          <p:cNvSpPr/>
          <p:nvPr/>
        </p:nvSpPr>
        <p:spPr>
          <a:xfrm>
            <a:off x="1476613" y="2627312"/>
            <a:ext cx="47149" cy="95250"/>
          </a:xfrm>
          <a:custGeom>
            <a:avLst/>
            <a:gdLst/>
            <a:ahLst/>
            <a:cxnLst/>
            <a:rect l="l" t="t" r="r" b="b"/>
            <a:pathLst>
              <a:path w="5940" h="12000">
                <a:moveTo>
                  <a:pt x="3770" y="0"/>
                </a:moveTo>
                <a:lnTo>
                  <a:pt x="3770" y="5400"/>
                </a:lnTo>
                <a:lnTo>
                  <a:pt x="5940" y="5400"/>
                </a:lnTo>
                <a:lnTo>
                  <a:pt x="2970" y="12000"/>
                </a:lnTo>
                <a:lnTo>
                  <a:pt x="0" y="5400"/>
                </a:lnTo>
                <a:lnTo>
                  <a:pt x="2170" y="5400"/>
                </a:lnTo>
                <a:lnTo>
                  <a:pt x="217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2" descr="Editable shape; source id r2"/>
          <p:cNvSpPr/>
          <p:nvPr/>
        </p:nvSpPr>
        <p:spPr>
          <a:xfrm>
            <a:off x="2682874" y="793749"/>
            <a:ext cx="2206624" cy="2381249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2_b" descr="Editable shape; source id r2_b"/>
          <p:cNvSpPr/>
          <p:nvPr/>
        </p:nvSpPr>
        <p:spPr>
          <a:xfrm>
            <a:off x="2682874" y="793749"/>
            <a:ext cx="55562" cy="2381249"/>
          </a:xfrm>
          <a:prstGeom prst="roundRect">
            <a:avLst>
              <a:gd name="adj" fmla="val 42857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2_t" descr="Editable text; source id r2_t"/>
          <p:cNvSpPr txBox="1"/>
          <p:nvPr/>
        </p:nvSpPr>
        <p:spPr>
          <a:xfrm>
            <a:off x="2809874" y="904874"/>
            <a:ext cx="1952624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499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Self-Flux / Melt</a:t>
            </a:r>
          </a:p>
        </p:txBody>
      </p:sp>
      <p:cxnSp>
        <p:nvCxnSpPr>
          <p:cNvPr id="32" name="r2_g_b_0" descr="Editable line; source id r2_g_b_0"/>
          <p:cNvCxnSpPr/>
          <p:nvPr/>
        </p:nvCxnSpPr>
        <p:spPr>
          <a:xfrm>
            <a:off x="3611562" y="1389062"/>
            <a:ext cx="55562" cy="285750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r2_g_b_1" descr="Editable line; source id r2_g_b_1"/>
          <p:cNvCxnSpPr/>
          <p:nvPr/>
        </p:nvCxnSpPr>
        <p:spPr>
          <a:xfrm>
            <a:off x="3667124" y="1674812"/>
            <a:ext cx="238125" cy="0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r2_g_b_2" descr="Editable line; source id r2_g_b_2"/>
          <p:cNvCxnSpPr/>
          <p:nvPr/>
        </p:nvCxnSpPr>
        <p:spPr>
          <a:xfrm flipV="1">
            <a:off x="3905249" y="1389062"/>
            <a:ext cx="55563" cy="285750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r2_g_r" descr="Editable line; source id r2_g_r"/>
          <p:cNvCxnSpPr/>
          <p:nvPr/>
        </p:nvCxnSpPr>
        <p:spPr>
          <a:xfrm>
            <a:off x="3579812" y="1389062"/>
            <a:ext cx="412750" cy="0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r2_g_w_0" descr="Editable line; source id r2_g_w_0"/>
          <p:cNvCxnSpPr/>
          <p:nvPr/>
        </p:nvCxnSpPr>
        <p:spPr>
          <a:xfrm flipV="1">
            <a:off x="3651249" y="1452562"/>
            <a:ext cx="63500" cy="39687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r2_g_w_1" descr="Editable line; source id r2_g_w_1"/>
          <p:cNvCxnSpPr/>
          <p:nvPr/>
        </p:nvCxnSpPr>
        <p:spPr>
          <a:xfrm>
            <a:off x="3714749" y="1452562"/>
            <a:ext cx="71438" cy="39687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r2_g_w_2" descr="Editable line; source id r2_g_w_2"/>
          <p:cNvCxnSpPr/>
          <p:nvPr/>
        </p:nvCxnSpPr>
        <p:spPr>
          <a:xfrm flipV="1">
            <a:off x="3786187" y="1452562"/>
            <a:ext cx="71437" cy="39687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r2_g_w_3" descr="Editable line; source id r2_g_w_3"/>
          <p:cNvCxnSpPr/>
          <p:nvPr/>
        </p:nvCxnSpPr>
        <p:spPr>
          <a:xfrm>
            <a:off x="3857624" y="1452562"/>
            <a:ext cx="63500" cy="39687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2c_t0" descr="Editable shape; source id r2c_t0"/>
          <p:cNvSpPr/>
          <p:nvPr/>
        </p:nvSpPr>
        <p:spPr>
          <a:xfrm>
            <a:off x="2825749" y="18573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2c_t0_t" descr="Editable text; source id r2c_t0_t"/>
          <p:cNvSpPr txBox="1"/>
          <p:nvPr/>
        </p:nvSpPr>
        <p:spPr>
          <a:xfrm>
            <a:off x="2881312" y="18891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Homogenize</a:t>
            </a:r>
          </a:p>
        </p:txBody>
      </p:sp>
      <p:sp>
        <p:nvSpPr>
          <p:cNvPr id="42" name="r2c_t1" descr="Editable shape; source id r2c_t1"/>
          <p:cNvSpPr/>
          <p:nvPr/>
        </p:nvSpPr>
        <p:spPr>
          <a:xfrm>
            <a:off x="2825749" y="23018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2c_t1_t" descr="Editable text; source id r2c_t1_t"/>
          <p:cNvSpPr txBox="1"/>
          <p:nvPr/>
        </p:nvSpPr>
        <p:spPr>
          <a:xfrm>
            <a:off x="2881312" y="23336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Nucleate</a:t>
            </a:r>
          </a:p>
        </p:txBody>
      </p:sp>
      <p:sp>
        <p:nvSpPr>
          <p:cNvPr id="44" name="r2c_a1" descr="Editable line; source id r2c_a1"/>
          <p:cNvSpPr/>
          <p:nvPr/>
        </p:nvSpPr>
        <p:spPr>
          <a:xfrm>
            <a:off x="3762613" y="2182812"/>
            <a:ext cx="47149" cy="95250"/>
          </a:xfrm>
          <a:custGeom>
            <a:avLst/>
            <a:gdLst/>
            <a:ahLst/>
            <a:cxnLst/>
            <a:rect l="l" t="t" r="r" b="b"/>
            <a:pathLst>
              <a:path w="5940" h="12000">
                <a:moveTo>
                  <a:pt x="3770" y="0"/>
                </a:moveTo>
                <a:lnTo>
                  <a:pt x="3770" y="5400"/>
                </a:lnTo>
                <a:lnTo>
                  <a:pt x="5940" y="5400"/>
                </a:lnTo>
                <a:lnTo>
                  <a:pt x="2970" y="12000"/>
                </a:lnTo>
                <a:lnTo>
                  <a:pt x="0" y="5400"/>
                </a:lnTo>
                <a:lnTo>
                  <a:pt x="2170" y="5400"/>
                </a:lnTo>
                <a:lnTo>
                  <a:pt x="217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2c_t2" descr="Editable shape; source id r2c_t2"/>
          <p:cNvSpPr/>
          <p:nvPr/>
        </p:nvSpPr>
        <p:spPr>
          <a:xfrm>
            <a:off x="2825749" y="27463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2c_t2_t" descr="Editable text; source id r2c_t2_t"/>
          <p:cNvSpPr txBox="1"/>
          <p:nvPr/>
        </p:nvSpPr>
        <p:spPr>
          <a:xfrm>
            <a:off x="2881312" y="27781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Controlled cooling</a:t>
            </a:r>
          </a:p>
        </p:txBody>
      </p:sp>
      <p:sp>
        <p:nvSpPr>
          <p:cNvPr id="47" name="r2c_a2" descr="Editable line; source id r2c_a2"/>
          <p:cNvSpPr/>
          <p:nvPr/>
        </p:nvSpPr>
        <p:spPr>
          <a:xfrm>
            <a:off x="3762613" y="2627312"/>
            <a:ext cx="47149" cy="95250"/>
          </a:xfrm>
          <a:custGeom>
            <a:avLst/>
            <a:gdLst/>
            <a:ahLst/>
            <a:cxnLst/>
            <a:rect l="l" t="t" r="r" b="b"/>
            <a:pathLst>
              <a:path w="5940" h="12000">
                <a:moveTo>
                  <a:pt x="3770" y="0"/>
                </a:moveTo>
                <a:lnTo>
                  <a:pt x="3770" y="5400"/>
                </a:lnTo>
                <a:lnTo>
                  <a:pt x="5940" y="5400"/>
                </a:lnTo>
                <a:lnTo>
                  <a:pt x="2970" y="12000"/>
                </a:lnTo>
                <a:lnTo>
                  <a:pt x="0" y="5400"/>
                </a:lnTo>
                <a:lnTo>
                  <a:pt x="2170" y="5400"/>
                </a:lnTo>
                <a:lnTo>
                  <a:pt x="217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3" descr="Editable shape; source id r3"/>
          <p:cNvSpPr/>
          <p:nvPr/>
        </p:nvSpPr>
        <p:spPr>
          <a:xfrm>
            <a:off x="4968874" y="793749"/>
            <a:ext cx="2206624" cy="2381249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3_b" descr="Editable shape; source id r3_b"/>
          <p:cNvSpPr/>
          <p:nvPr/>
        </p:nvSpPr>
        <p:spPr>
          <a:xfrm>
            <a:off x="4968874" y="793749"/>
            <a:ext cx="55562" cy="2381249"/>
          </a:xfrm>
          <a:prstGeom prst="roundRect">
            <a:avLst>
              <a:gd name="adj" fmla="val 42857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3_t" descr="Editable text; source id r3_t"/>
          <p:cNvSpPr txBox="1"/>
          <p:nvPr/>
        </p:nvSpPr>
        <p:spPr>
          <a:xfrm>
            <a:off x="5095874" y="904874"/>
            <a:ext cx="1952624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374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Solid-State Ceramic</a:t>
            </a:r>
          </a:p>
        </p:txBody>
      </p:sp>
      <p:sp>
        <p:nvSpPr>
          <p:cNvPr id="51" name="r3_g_e1" descr="Editable shape; source id r3_g_e1"/>
          <p:cNvSpPr/>
          <p:nvPr/>
        </p:nvSpPr>
        <p:spPr>
          <a:xfrm>
            <a:off x="5913437" y="1389062"/>
            <a:ext cx="309562" cy="95249"/>
          </a:xfrm>
          <a:prstGeom prst="ellipse">
            <a:avLst/>
          </a:prstGeom>
          <a:noFill/>
          <a:ln w="920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r3_g_s1" descr="Editable line; source id r3_g_s1"/>
          <p:cNvCxnSpPr/>
          <p:nvPr/>
        </p:nvCxnSpPr>
        <p:spPr>
          <a:xfrm>
            <a:off x="5913437" y="1436687"/>
            <a:ext cx="0" cy="127000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r3_g_s2" descr="Editable line; source id r3_g_s2"/>
          <p:cNvCxnSpPr/>
          <p:nvPr/>
        </p:nvCxnSpPr>
        <p:spPr>
          <a:xfrm>
            <a:off x="6230937" y="1436687"/>
            <a:ext cx="0" cy="127000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3_g_e2" descr="Editable shape; source id r3_g_e2"/>
          <p:cNvSpPr/>
          <p:nvPr/>
        </p:nvSpPr>
        <p:spPr>
          <a:xfrm>
            <a:off x="5913437" y="1516062"/>
            <a:ext cx="309562" cy="95249"/>
          </a:xfrm>
          <a:prstGeom prst="ellipse">
            <a:avLst/>
          </a:prstGeom>
          <a:noFill/>
          <a:ln w="920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3c_t0" descr="Editable shape; source id r3c_t0"/>
          <p:cNvSpPr/>
          <p:nvPr/>
        </p:nvSpPr>
        <p:spPr>
          <a:xfrm>
            <a:off x="5111749" y="18573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3c_t0_t" descr="Editable text; source id r3c_t0_t"/>
          <p:cNvSpPr txBox="1"/>
          <p:nvPr/>
        </p:nvSpPr>
        <p:spPr>
          <a:xfrm>
            <a:off x="5167312" y="18891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Mix and press</a:t>
            </a:r>
          </a:p>
        </p:txBody>
      </p:sp>
      <p:sp>
        <p:nvSpPr>
          <p:cNvPr id="57" name="r3c_t1" descr="Editable shape; source id r3c_t1"/>
          <p:cNvSpPr/>
          <p:nvPr/>
        </p:nvSpPr>
        <p:spPr>
          <a:xfrm>
            <a:off x="5111749" y="23018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3c_t1_t" descr="Editable text; source id r3c_t1_t"/>
          <p:cNvSpPr txBox="1"/>
          <p:nvPr/>
        </p:nvSpPr>
        <p:spPr>
          <a:xfrm>
            <a:off x="5167312" y="23336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Calcine, regrind</a:t>
            </a:r>
          </a:p>
        </p:txBody>
      </p:sp>
      <p:sp>
        <p:nvSpPr>
          <p:cNvPr id="59" name="r3c_a1" descr="Editable line; source id r3c_a1"/>
          <p:cNvSpPr/>
          <p:nvPr/>
        </p:nvSpPr>
        <p:spPr>
          <a:xfrm>
            <a:off x="6048613" y="2182812"/>
            <a:ext cx="47149" cy="95250"/>
          </a:xfrm>
          <a:custGeom>
            <a:avLst/>
            <a:gdLst/>
            <a:ahLst/>
            <a:cxnLst/>
            <a:rect l="l" t="t" r="r" b="b"/>
            <a:pathLst>
              <a:path w="5940" h="12000">
                <a:moveTo>
                  <a:pt x="3770" y="0"/>
                </a:moveTo>
                <a:lnTo>
                  <a:pt x="3770" y="5400"/>
                </a:lnTo>
                <a:lnTo>
                  <a:pt x="5940" y="5400"/>
                </a:lnTo>
                <a:lnTo>
                  <a:pt x="2970" y="12000"/>
                </a:lnTo>
                <a:lnTo>
                  <a:pt x="0" y="5400"/>
                </a:lnTo>
                <a:lnTo>
                  <a:pt x="2170" y="5400"/>
                </a:lnTo>
                <a:lnTo>
                  <a:pt x="217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3c_t2" descr="Editable shape; source id r3c_t2"/>
          <p:cNvSpPr/>
          <p:nvPr/>
        </p:nvSpPr>
        <p:spPr>
          <a:xfrm>
            <a:off x="5111749" y="27463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3c_t2_t" descr="Editable text; source id r3c_t2_t"/>
          <p:cNvSpPr txBox="1"/>
          <p:nvPr/>
        </p:nvSpPr>
        <p:spPr>
          <a:xfrm>
            <a:off x="5167312" y="27781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Sinter</a:t>
            </a:r>
          </a:p>
        </p:txBody>
      </p:sp>
      <p:sp>
        <p:nvSpPr>
          <p:cNvPr id="62" name="r3c_a2" descr="Editable line; source id r3c_a2"/>
          <p:cNvSpPr/>
          <p:nvPr/>
        </p:nvSpPr>
        <p:spPr>
          <a:xfrm>
            <a:off x="6048613" y="2627312"/>
            <a:ext cx="47149" cy="95250"/>
          </a:xfrm>
          <a:custGeom>
            <a:avLst/>
            <a:gdLst/>
            <a:ahLst/>
            <a:cxnLst/>
            <a:rect l="l" t="t" r="r" b="b"/>
            <a:pathLst>
              <a:path w="5940" h="12000">
                <a:moveTo>
                  <a:pt x="3770" y="0"/>
                </a:moveTo>
                <a:lnTo>
                  <a:pt x="3770" y="5400"/>
                </a:lnTo>
                <a:lnTo>
                  <a:pt x="5940" y="5400"/>
                </a:lnTo>
                <a:lnTo>
                  <a:pt x="2970" y="12000"/>
                </a:lnTo>
                <a:lnTo>
                  <a:pt x="0" y="5400"/>
                </a:lnTo>
                <a:lnTo>
                  <a:pt x="2170" y="5400"/>
                </a:lnTo>
                <a:lnTo>
                  <a:pt x="217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4" descr="Editable shape; source id r4"/>
          <p:cNvSpPr/>
          <p:nvPr/>
        </p:nvSpPr>
        <p:spPr>
          <a:xfrm>
            <a:off x="7254874" y="793749"/>
            <a:ext cx="2206624" cy="2381249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4_b" descr="Editable shape; source id r4_b"/>
          <p:cNvSpPr/>
          <p:nvPr/>
        </p:nvSpPr>
        <p:spPr>
          <a:xfrm>
            <a:off x="7254874" y="793749"/>
            <a:ext cx="55562" cy="2381249"/>
          </a:xfrm>
          <a:prstGeom prst="roundRect">
            <a:avLst>
              <a:gd name="adj" fmla="val 42857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4_t" descr="Editable text; source id r4_t"/>
          <p:cNvSpPr txBox="1"/>
          <p:nvPr/>
        </p:nvSpPr>
        <p:spPr>
          <a:xfrm>
            <a:off x="7381874" y="904874"/>
            <a:ext cx="1952624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499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Mechanochemical</a:t>
            </a:r>
          </a:p>
        </p:txBody>
      </p:sp>
      <p:sp>
        <p:nvSpPr>
          <p:cNvPr id="66" name="r4_g_j" descr="Editable shape; source id r4_g_j"/>
          <p:cNvSpPr/>
          <p:nvPr/>
        </p:nvSpPr>
        <p:spPr>
          <a:xfrm>
            <a:off x="8223249" y="1373187"/>
            <a:ext cx="277812" cy="293687"/>
          </a:xfrm>
          <a:prstGeom prst="roundRect">
            <a:avLst>
              <a:gd name="adj" fmla="val 16571"/>
            </a:avLst>
          </a:prstGeom>
          <a:noFill/>
          <a:ln w="920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r4_g_c" descr="Editable line; source id r4_g_c"/>
          <p:cNvCxnSpPr/>
          <p:nvPr/>
        </p:nvCxnSpPr>
        <p:spPr>
          <a:xfrm>
            <a:off x="8223249" y="1428749"/>
            <a:ext cx="269875" cy="0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4_g_b0" descr="Editable shape; source id r4_g_b0"/>
          <p:cNvSpPr/>
          <p:nvPr/>
        </p:nvSpPr>
        <p:spPr>
          <a:xfrm>
            <a:off x="8254999" y="1492249"/>
            <a:ext cx="71437" cy="71437"/>
          </a:xfrm>
          <a:prstGeom prst="ellipse">
            <a:avLst/>
          </a:prstGeom>
          <a:noFill/>
          <a:ln w="920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4_g_b1" descr="Editable shape; source id r4_g_b1"/>
          <p:cNvSpPr/>
          <p:nvPr/>
        </p:nvSpPr>
        <p:spPr>
          <a:xfrm>
            <a:off x="8358187" y="1460499"/>
            <a:ext cx="71437" cy="71437"/>
          </a:xfrm>
          <a:prstGeom prst="ellipse">
            <a:avLst/>
          </a:prstGeom>
          <a:noFill/>
          <a:ln w="920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4_g_b2" descr="Editable shape; source id r4_g_b2"/>
          <p:cNvSpPr/>
          <p:nvPr/>
        </p:nvSpPr>
        <p:spPr>
          <a:xfrm>
            <a:off x="8318499" y="1563687"/>
            <a:ext cx="71437" cy="71437"/>
          </a:xfrm>
          <a:prstGeom prst="ellipse">
            <a:avLst/>
          </a:prstGeom>
          <a:noFill/>
          <a:ln w="920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4c_t0" descr="Editable shape; source id r4c_t0"/>
          <p:cNvSpPr/>
          <p:nvPr/>
        </p:nvSpPr>
        <p:spPr>
          <a:xfrm>
            <a:off x="7397749" y="18573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4c_t0_t" descr="Editable text; source id r4c_t0_t"/>
          <p:cNvSpPr txBox="1"/>
          <p:nvPr/>
        </p:nvSpPr>
        <p:spPr>
          <a:xfrm>
            <a:off x="7453312" y="18891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High-energy mill</a:t>
            </a:r>
          </a:p>
        </p:txBody>
      </p:sp>
      <p:sp>
        <p:nvSpPr>
          <p:cNvPr id="73" name="r4c_t1" descr="Editable shape; source id r4c_t1"/>
          <p:cNvSpPr/>
          <p:nvPr/>
        </p:nvSpPr>
        <p:spPr>
          <a:xfrm>
            <a:off x="7397749" y="23018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4c_t1_t" descr="Editable text; source id r4c_t1_t"/>
          <p:cNvSpPr txBox="1"/>
          <p:nvPr/>
        </p:nvSpPr>
        <p:spPr>
          <a:xfrm>
            <a:off x="7453312" y="23336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Activate</a:t>
            </a:r>
          </a:p>
        </p:txBody>
      </p:sp>
      <p:sp>
        <p:nvSpPr>
          <p:cNvPr id="75" name="r4c_a1" descr="Editable line; source id r4c_a1"/>
          <p:cNvSpPr/>
          <p:nvPr/>
        </p:nvSpPr>
        <p:spPr>
          <a:xfrm>
            <a:off x="8334613" y="2182812"/>
            <a:ext cx="47149" cy="95250"/>
          </a:xfrm>
          <a:custGeom>
            <a:avLst/>
            <a:gdLst/>
            <a:ahLst/>
            <a:cxnLst/>
            <a:rect l="l" t="t" r="r" b="b"/>
            <a:pathLst>
              <a:path w="5940" h="12000">
                <a:moveTo>
                  <a:pt x="3770" y="0"/>
                </a:moveTo>
                <a:lnTo>
                  <a:pt x="3770" y="5400"/>
                </a:lnTo>
                <a:lnTo>
                  <a:pt x="5940" y="5400"/>
                </a:lnTo>
                <a:lnTo>
                  <a:pt x="2970" y="12000"/>
                </a:lnTo>
                <a:lnTo>
                  <a:pt x="0" y="5400"/>
                </a:lnTo>
                <a:lnTo>
                  <a:pt x="2170" y="5400"/>
                </a:lnTo>
                <a:lnTo>
                  <a:pt x="217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4c_t2" descr="Editable shape; source id r4c_t2"/>
          <p:cNvSpPr/>
          <p:nvPr/>
        </p:nvSpPr>
        <p:spPr>
          <a:xfrm>
            <a:off x="7397749" y="27463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4c_t2_t" descr="Editable text; source id r4c_t2_t"/>
          <p:cNvSpPr txBox="1"/>
          <p:nvPr/>
        </p:nvSpPr>
        <p:spPr>
          <a:xfrm>
            <a:off x="7453312" y="27781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Phase formation</a:t>
            </a:r>
          </a:p>
        </p:txBody>
      </p:sp>
      <p:sp>
        <p:nvSpPr>
          <p:cNvPr id="78" name="r4c_a2" descr="Editable line; source id r4c_a2"/>
          <p:cNvSpPr/>
          <p:nvPr/>
        </p:nvSpPr>
        <p:spPr>
          <a:xfrm>
            <a:off x="8334613" y="2627312"/>
            <a:ext cx="47149" cy="95250"/>
          </a:xfrm>
          <a:custGeom>
            <a:avLst/>
            <a:gdLst/>
            <a:ahLst/>
            <a:cxnLst/>
            <a:rect l="l" t="t" r="r" b="b"/>
            <a:pathLst>
              <a:path w="5940" h="12000">
                <a:moveTo>
                  <a:pt x="3770" y="0"/>
                </a:moveTo>
                <a:lnTo>
                  <a:pt x="3770" y="5400"/>
                </a:lnTo>
                <a:lnTo>
                  <a:pt x="5940" y="5400"/>
                </a:lnTo>
                <a:lnTo>
                  <a:pt x="2970" y="12000"/>
                </a:lnTo>
                <a:lnTo>
                  <a:pt x="0" y="5400"/>
                </a:lnTo>
                <a:lnTo>
                  <a:pt x="2170" y="5400"/>
                </a:lnTo>
                <a:lnTo>
                  <a:pt x="217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5" descr="Editable shape; source id r5"/>
          <p:cNvSpPr/>
          <p:nvPr/>
        </p:nvSpPr>
        <p:spPr>
          <a:xfrm>
            <a:off x="9540874" y="793749"/>
            <a:ext cx="2206624" cy="2381249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1112">
            <a:solidFill>
              <a:srgbClr val="9AA3AB"/>
            </a:solidFill>
            <a:custDash>
              <a:ds d="857143" sp="571429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5_t" descr="Editable text; source id r5_t"/>
          <p:cNvSpPr txBox="1"/>
          <p:nvPr/>
        </p:nvSpPr>
        <p:spPr>
          <a:xfrm>
            <a:off x="9667874" y="904874"/>
            <a:ext cx="1952624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5B6570"/>
                </a:solidFill>
                <a:latin typeface="DejaVu Sans"/>
                <a:ea typeface="DejaVu Sans"/>
                <a:cs typeface="DejaVu Sans"/>
              </a:defRPr>
            </a:pPr>
            <a:r>
              <a:rPr sz="1499" b="1" i="0" lang="zh-CN" dirty="0">
                <a:solidFill>
                  <a:srgbClr val="5B6570"/>
                </a:solidFill>
                <a:latin typeface="DejaVu Sans"/>
                <a:ea typeface="DejaVu Sans"/>
                <a:cs typeface="DejaVu Sans"/>
              </a:rPr>
              <a:t>Czochralski</a:t>
            </a:r>
          </a:p>
        </p:txBody>
      </p:sp>
      <p:cxnSp>
        <p:nvCxnSpPr>
          <p:cNvPr id="81" name="r5_g_r" descr="Editable line; source id r5_g_r"/>
          <p:cNvCxnSpPr/>
          <p:nvPr/>
        </p:nvCxnSpPr>
        <p:spPr>
          <a:xfrm>
            <a:off x="10644187" y="1293812"/>
            <a:ext cx="0" cy="134937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r5_g_c_0" descr="Editable line; source id r5_g_c_0"/>
          <p:cNvCxnSpPr/>
          <p:nvPr/>
        </p:nvCxnSpPr>
        <p:spPr>
          <a:xfrm>
            <a:off x="10644187" y="1428749"/>
            <a:ext cx="63500" cy="79375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r5_g_c_1" descr="Editable line; source id r5_g_c_1"/>
          <p:cNvCxnSpPr/>
          <p:nvPr/>
        </p:nvCxnSpPr>
        <p:spPr>
          <a:xfrm flipH="1">
            <a:off x="10644187" y="1508124"/>
            <a:ext cx="63500" cy="87313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r5_g_c_2" descr="Editable line; source id r5_g_c_2"/>
          <p:cNvCxnSpPr/>
          <p:nvPr/>
        </p:nvCxnSpPr>
        <p:spPr>
          <a:xfrm flipH="1" flipV="1">
            <a:off x="10580687" y="1508124"/>
            <a:ext cx="63500" cy="87313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r5_g_c_3" descr="Editable line; source id r5_g_c_3"/>
          <p:cNvCxnSpPr/>
          <p:nvPr/>
        </p:nvCxnSpPr>
        <p:spPr>
          <a:xfrm flipV="1">
            <a:off x="10580687" y="1428749"/>
            <a:ext cx="63500" cy="79375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r5_g_m_0" descr="Editable line; source id r5_g_m_0"/>
          <p:cNvCxnSpPr/>
          <p:nvPr/>
        </p:nvCxnSpPr>
        <p:spPr>
          <a:xfrm>
            <a:off x="10525124" y="1619249"/>
            <a:ext cx="23813" cy="71438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r5_g_m_1" descr="Editable line; source id r5_g_m_1"/>
          <p:cNvCxnSpPr/>
          <p:nvPr/>
        </p:nvCxnSpPr>
        <p:spPr>
          <a:xfrm>
            <a:off x="10548937" y="1690687"/>
            <a:ext cx="190500" cy="0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r5_g_m_2" descr="Editable line; source id r5_g_m_2"/>
          <p:cNvCxnSpPr/>
          <p:nvPr/>
        </p:nvCxnSpPr>
        <p:spPr>
          <a:xfrm flipV="1">
            <a:off x="10739437" y="1619249"/>
            <a:ext cx="23812" cy="71438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r5_g_t" descr="Editable line; source id r5_g_t"/>
          <p:cNvCxnSpPr/>
          <p:nvPr/>
        </p:nvCxnSpPr>
        <p:spPr>
          <a:xfrm>
            <a:off x="10493374" y="1619249"/>
            <a:ext cx="301625" cy="0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5c_t0" descr="Editable shape; source id r5c_t0"/>
          <p:cNvSpPr/>
          <p:nvPr/>
        </p:nvSpPr>
        <p:spPr>
          <a:xfrm>
            <a:off x="9683749" y="18573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5c_t0_t" descr="Editable text; source id r5c_t0_t"/>
          <p:cNvSpPr txBox="1"/>
          <p:nvPr/>
        </p:nvSpPr>
        <p:spPr>
          <a:xfrm>
            <a:off x="9739312" y="18891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Pre-melt</a:t>
            </a:r>
          </a:p>
        </p:txBody>
      </p:sp>
      <p:sp>
        <p:nvSpPr>
          <p:cNvPr id="92" name="r5c_t1" descr="Editable shape; source id r5c_t1"/>
          <p:cNvSpPr/>
          <p:nvPr/>
        </p:nvSpPr>
        <p:spPr>
          <a:xfrm>
            <a:off x="9683749" y="23018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5c_t1_t" descr="Editable text; source id r5c_t1_t"/>
          <p:cNvSpPr txBox="1"/>
          <p:nvPr/>
        </p:nvSpPr>
        <p:spPr>
          <a:xfrm>
            <a:off x="9739312" y="23336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Seed pull</a:t>
            </a:r>
          </a:p>
        </p:txBody>
      </p:sp>
      <p:sp>
        <p:nvSpPr>
          <p:cNvPr id="94" name="r5c_a1" descr="Editable line; source id r5c_a1"/>
          <p:cNvSpPr/>
          <p:nvPr/>
        </p:nvSpPr>
        <p:spPr>
          <a:xfrm>
            <a:off x="10620613" y="2182812"/>
            <a:ext cx="47149" cy="95250"/>
          </a:xfrm>
          <a:custGeom>
            <a:avLst/>
            <a:gdLst/>
            <a:ahLst/>
            <a:cxnLst/>
            <a:rect l="l" t="t" r="r" b="b"/>
            <a:pathLst>
              <a:path w="5940" h="12000">
                <a:moveTo>
                  <a:pt x="3770" y="0"/>
                </a:moveTo>
                <a:lnTo>
                  <a:pt x="3770" y="5400"/>
                </a:lnTo>
                <a:lnTo>
                  <a:pt x="5940" y="5400"/>
                </a:lnTo>
                <a:lnTo>
                  <a:pt x="2970" y="12000"/>
                </a:lnTo>
                <a:lnTo>
                  <a:pt x="0" y="5400"/>
                </a:lnTo>
                <a:lnTo>
                  <a:pt x="2170" y="5400"/>
                </a:lnTo>
                <a:lnTo>
                  <a:pt x="217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5c_t2" descr="Editable shape; source id r5c_t2"/>
          <p:cNvSpPr/>
          <p:nvPr/>
        </p:nvSpPr>
        <p:spPr>
          <a:xfrm>
            <a:off x="9683749" y="27463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5c_t2_t" descr="Editable text; source id r5c_t2_t"/>
          <p:cNvSpPr txBox="1"/>
          <p:nvPr/>
        </p:nvSpPr>
        <p:spPr>
          <a:xfrm>
            <a:off x="9739312" y="27781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Anneal</a:t>
            </a:r>
          </a:p>
        </p:txBody>
      </p:sp>
      <p:sp>
        <p:nvSpPr>
          <p:cNvPr id="97" name="r5c_a2" descr="Editable line; source id r5c_a2"/>
          <p:cNvSpPr/>
          <p:nvPr/>
        </p:nvSpPr>
        <p:spPr>
          <a:xfrm>
            <a:off x="10620613" y="2627312"/>
            <a:ext cx="47149" cy="95250"/>
          </a:xfrm>
          <a:custGeom>
            <a:avLst/>
            <a:gdLst/>
            <a:ahLst/>
            <a:cxnLst/>
            <a:rect l="l" t="t" r="r" b="b"/>
            <a:pathLst>
              <a:path w="5940" h="12000">
                <a:moveTo>
                  <a:pt x="3770" y="0"/>
                </a:moveTo>
                <a:lnTo>
                  <a:pt x="3770" y="5400"/>
                </a:lnTo>
                <a:lnTo>
                  <a:pt x="5940" y="5400"/>
                </a:lnTo>
                <a:lnTo>
                  <a:pt x="2970" y="12000"/>
                </a:lnTo>
                <a:lnTo>
                  <a:pt x="0" y="5400"/>
                </a:lnTo>
                <a:lnTo>
                  <a:pt x="2170" y="5400"/>
                </a:lnTo>
                <a:lnTo>
                  <a:pt x="217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led" descr="Editable shape; source id led"/>
          <p:cNvSpPr/>
          <p:nvPr/>
        </p:nvSpPr>
        <p:spPr>
          <a:xfrm>
            <a:off x="396874" y="4079874"/>
            <a:ext cx="11398249" cy="1349374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1112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led_b" descr="Editable shape; source id led_b"/>
          <p:cNvSpPr/>
          <p:nvPr/>
        </p:nvSpPr>
        <p:spPr>
          <a:xfrm>
            <a:off x="396874" y="4079874"/>
            <a:ext cx="55562" cy="1349374"/>
          </a:xfrm>
          <a:prstGeom prst="roundRect">
            <a:avLst>
              <a:gd name="adj" fmla="val 42857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led_t" descr="Editable text; source id led_t"/>
          <p:cNvSpPr txBox="1"/>
          <p:nvPr/>
        </p:nvSpPr>
        <p:spPr>
          <a:xfrm>
            <a:off x="619124" y="4206874"/>
            <a:ext cx="2381249" cy="333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53"/>
              </a:lnSpc>
              <a:spcBef>
                <a:spcPts val="0"/>
              </a:spcBef>
              <a:spcAft>
                <a:spcPts val="0"/>
              </a:spcAft>
              <a:defRPr sz="1239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1239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Unified Experiment Record</a:t>
            </a:r>
          </a:p>
        </p:txBody>
      </p:sp>
      <p:sp>
        <p:nvSpPr>
          <p:cNvPr id="101" name="cl0_g_s0" descr="Editable shape; source id cl0_g_s0"/>
          <p:cNvSpPr/>
          <p:nvPr/>
        </p:nvSpPr>
        <p:spPr>
          <a:xfrm>
            <a:off x="1389062" y="4619624"/>
            <a:ext cx="174624" cy="261937"/>
          </a:xfrm>
          <a:prstGeom prst="rect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cl0_g_l1" descr="Editable line; source id cl0_g_l1"/>
          <p:cNvCxnSpPr/>
          <p:nvPr/>
        </p:nvCxnSpPr>
        <p:spPr>
          <a:xfrm>
            <a:off x="1436687" y="4714874"/>
            <a:ext cx="119062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l0_g_l2" descr="Editable line; source id cl0_g_l2"/>
          <p:cNvCxnSpPr/>
          <p:nvPr/>
        </p:nvCxnSpPr>
        <p:spPr>
          <a:xfrm>
            <a:off x="1436687" y="4770437"/>
            <a:ext cx="119062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l0_g_l3" descr="Editable line; source id cl0_g_l3"/>
          <p:cNvCxnSpPr/>
          <p:nvPr/>
        </p:nvCxnSpPr>
        <p:spPr>
          <a:xfrm>
            <a:off x="1436687" y="4818062"/>
            <a:ext cx="79375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l0_k_c" descr="Editable shape; source id cl0_k_c"/>
          <p:cNvSpPr/>
          <p:nvPr/>
        </p:nvSpPr>
        <p:spPr>
          <a:xfrm>
            <a:off x="1873249" y="4643437"/>
            <a:ext cx="230187" cy="230187"/>
          </a:xfrm>
          <a:prstGeom prst="ellipse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" name="cl0_k_k_0" descr="Editable line; source id cl0_k_k_0"/>
          <p:cNvCxnSpPr/>
          <p:nvPr/>
        </p:nvCxnSpPr>
        <p:spPr>
          <a:xfrm>
            <a:off x="1928812" y="4762499"/>
            <a:ext cx="39687" cy="39688"/>
          </a:xfrm>
          <a:prstGeom prst="line">
            <a:avLst/>
          </a:prstGeom>
          <a:ln w="10318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l0_k_k_1" descr="Editable line; source id cl0_k_k_1"/>
          <p:cNvCxnSpPr/>
          <p:nvPr/>
        </p:nvCxnSpPr>
        <p:spPr>
          <a:xfrm flipV="1">
            <a:off x="1968499" y="4706937"/>
            <a:ext cx="79375" cy="95250"/>
          </a:xfrm>
          <a:prstGeom prst="line">
            <a:avLst/>
          </a:prstGeom>
          <a:ln w="10318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cl0_t" descr="Editable text; source id cl0_t"/>
          <p:cNvSpPr txBox="1"/>
          <p:nvPr/>
        </p:nvSpPr>
        <p:spPr>
          <a:xfrm>
            <a:off x="619124" y="5032374"/>
            <a:ext cx="227012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Ratio and raw materials</a:t>
            </a:r>
          </a:p>
        </p:txBody>
      </p:sp>
      <p:sp>
        <p:nvSpPr>
          <p:cNvPr id="109" name="cl1_g_t" descr="Editable shape; source id cl1_g_t"/>
          <p:cNvSpPr/>
          <p:nvPr/>
        </p:nvSpPr>
        <p:spPr>
          <a:xfrm>
            <a:off x="3897312" y="4603749"/>
            <a:ext cx="71437" cy="214312"/>
          </a:xfrm>
          <a:prstGeom prst="roundRect">
            <a:avLst>
              <a:gd name="adj" fmla="val 50000"/>
            </a:avLst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cl1_g_b" descr="Editable shape; source id cl1_g_b"/>
          <p:cNvSpPr/>
          <p:nvPr/>
        </p:nvSpPr>
        <p:spPr>
          <a:xfrm>
            <a:off x="3881437" y="4802187"/>
            <a:ext cx="119062" cy="119062"/>
          </a:xfrm>
          <a:prstGeom prst="ellipse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l1_g_m0" descr="Editable line; source id cl1_g_m0"/>
          <p:cNvCxnSpPr/>
          <p:nvPr/>
        </p:nvCxnSpPr>
        <p:spPr>
          <a:xfrm>
            <a:off x="3984624" y="4659312"/>
            <a:ext cx="39688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l1_g_m1" descr="Editable line; source id cl1_g_m1"/>
          <p:cNvCxnSpPr/>
          <p:nvPr/>
        </p:nvCxnSpPr>
        <p:spPr>
          <a:xfrm>
            <a:off x="3984624" y="4706937"/>
            <a:ext cx="39688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l1_g_m2" descr="Editable line; source id cl1_g_m2"/>
          <p:cNvCxnSpPr/>
          <p:nvPr/>
        </p:nvCxnSpPr>
        <p:spPr>
          <a:xfrm>
            <a:off x="3984624" y="4746624"/>
            <a:ext cx="39688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cl1_k_c" descr="Editable shape; source id cl1_k_c"/>
          <p:cNvSpPr/>
          <p:nvPr/>
        </p:nvSpPr>
        <p:spPr>
          <a:xfrm>
            <a:off x="4302124" y="4643437"/>
            <a:ext cx="230187" cy="230187"/>
          </a:xfrm>
          <a:prstGeom prst="ellipse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l1_k_k_0" descr="Editable line; source id cl1_k_k_0"/>
          <p:cNvCxnSpPr/>
          <p:nvPr/>
        </p:nvCxnSpPr>
        <p:spPr>
          <a:xfrm>
            <a:off x="4357687" y="4762499"/>
            <a:ext cx="39687" cy="39688"/>
          </a:xfrm>
          <a:prstGeom prst="line">
            <a:avLst/>
          </a:prstGeom>
          <a:ln w="10318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l1_k_k_1" descr="Editable line; source id cl1_k_k_1"/>
          <p:cNvCxnSpPr/>
          <p:nvPr/>
        </p:nvCxnSpPr>
        <p:spPr>
          <a:xfrm flipV="1">
            <a:off x="4397374" y="4706937"/>
            <a:ext cx="79375" cy="95250"/>
          </a:xfrm>
          <a:prstGeom prst="line">
            <a:avLst/>
          </a:prstGeom>
          <a:ln w="10318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cl1_t" descr="Editable text; source id cl1_t"/>
          <p:cNvSpPr txBox="1"/>
          <p:nvPr/>
        </p:nvSpPr>
        <p:spPr>
          <a:xfrm>
            <a:off x="3047999" y="5032374"/>
            <a:ext cx="227012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43"/>
              </a:lnSpc>
              <a:spcBef>
                <a:spcPts val="0"/>
              </a:spcBef>
              <a:spcAft>
                <a:spcPts val="0"/>
              </a:spcAft>
              <a:defRPr sz="1133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33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Temperature–time, atmosphere</a:t>
            </a:r>
          </a:p>
        </p:txBody>
      </p:sp>
      <p:cxnSp>
        <p:nvCxnSpPr>
          <p:cNvPr id="118" name="cl1_s" descr="Editable line; source id cl1_s"/>
          <p:cNvCxnSpPr/>
          <p:nvPr/>
        </p:nvCxnSpPr>
        <p:spPr>
          <a:xfrm>
            <a:off x="2952749" y="4540249"/>
            <a:ext cx="0" cy="762000"/>
          </a:xfrm>
          <a:prstGeom prst="line">
            <a:avLst/>
          </a:prstGeom>
          <a:ln w="9524">
            <a:solidFill>
              <a:srgbClr val="E3E8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l2_g_b_0" descr="Editable line; source id cl2_g_b_0"/>
          <p:cNvCxnSpPr/>
          <p:nvPr/>
        </p:nvCxnSpPr>
        <p:spPr>
          <a:xfrm>
            <a:off x="6262687" y="4683124"/>
            <a:ext cx="39687" cy="198438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l2_g_b_1" descr="Editable line; source id cl2_g_b_1"/>
          <p:cNvCxnSpPr/>
          <p:nvPr/>
        </p:nvCxnSpPr>
        <p:spPr>
          <a:xfrm>
            <a:off x="6302374" y="4881562"/>
            <a:ext cx="12700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l2_g_b_2" descr="Editable line; source id cl2_g_b_2"/>
          <p:cNvCxnSpPr/>
          <p:nvPr/>
        </p:nvCxnSpPr>
        <p:spPr>
          <a:xfrm flipV="1">
            <a:off x="6429374" y="4683124"/>
            <a:ext cx="39688" cy="198438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l2_g_r" descr="Editable line; source id cl2_g_r"/>
          <p:cNvCxnSpPr/>
          <p:nvPr/>
        </p:nvCxnSpPr>
        <p:spPr>
          <a:xfrm>
            <a:off x="6238874" y="4683124"/>
            <a:ext cx="25400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cl2_k_c" descr="Editable shape; source id cl2_k_c"/>
          <p:cNvSpPr/>
          <p:nvPr/>
        </p:nvSpPr>
        <p:spPr>
          <a:xfrm>
            <a:off x="6730999" y="4643437"/>
            <a:ext cx="230187" cy="230187"/>
          </a:xfrm>
          <a:prstGeom prst="ellipse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4" name="cl2_k_k_0" descr="Editable line; source id cl2_k_k_0"/>
          <p:cNvCxnSpPr/>
          <p:nvPr/>
        </p:nvCxnSpPr>
        <p:spPr>
          <a:xfrm>
            <a:off x="6786562" y="4762499"/>
            <a:ext cx="39687" cy="39688"/>
          </a:xfrm>
          <a:prstGeom prst="line">
            <a:avLst/>
          </a:prstGeom>
          <a:ln w="10318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l2_k_k_1" descr="Editable line; source id cl2_k_k_1"/>
          <p:cNvCxnSpPr/>
          <p:nvPr/>
        </p:nvCxnSpPr>
        <p:spPr>
          <a:xfrm flipV="1">
            <a:off x="6826249" y="4706937"/>
            <a:ext cx="79375" cy="95250"/>
          </a:xfrm>
          <a:prstGeom prst="line">
            <a:avLst/>
          </a:prstGeom>
          <a:ln w="10318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cl2_t" descr="Editable text; source id cl2_t"/>
          <p:cNvSpPr txBox="1"/>
          <p:nvPr/>
        </p:nvSpPr>
        <p:spPr>
          <a:xfrm>
            <a:off x="5476874" y="5032374"/>
            <a:ext cx="227012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Crucible, flux</a:t>
            </a:r>
          </a:p>
        </p:txBody>
      </p:sp>
      <p:cxnSp>
        <p:nvCxnSpPr>
          <p:cNvPr id="127" name="cl2_s" descr="Editable line; source id cl2_s"/>
          <p:cNvCxnSpPr/>
          <p:nvPr/>
        </p:nvCxnSpPr>
        <p:spPr>
          <a:xfrm>
            <a:off x="5381624" y="4540249"/>
            <a:ext cx="0" cy="762000"/>
          </a:xfrm>
          <a:prstGeom prst="line">
            <a:avLst/>
          </a:prstGeom>
          <a:ln w="9524">
            <a:solidFill>
              <a:srgbClr val="E3E8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l3_g_d_0" descr="Editable line; source id cl3_g_d_0"/>
          <p:cNvCxnSpPr/>
          <p:nvPr/>
        </p:nvCxnSpPr>
        <p:spPr>
          <a:xfrm>
            <a:off x="8794749" y="4611687"/>
            <a:ext cx="87313" cy="12700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l3_g_d_1" descr="Editable line; source id cl3_g_d_1"/>
          <p:cNvCxnSpPr/>
          <p:nvPr/>
        </p:nvCxnSpPr>
        <p:spPr>
          <a:xfrm flipH="1">
            <a:off x="8842374" y="4738687"/>
            <a:ext cx="39688" cy="79375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l3_g_d_2" descr="Editable line; source id cl3_g_d_2"/>
          <p:cNvCxnSpPr/>
          <p:nvPr/>
        </p:nvCxnSpPr>
        <p:spPr>
          <a:xfrm flipH="1">
            <a:off x="8747124" y="4818062"/>
            <a:ext cx="9525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l3_g_d_3" descr="Editable line; source id cl3_g_d_3"/>
          <p:cNvCxnSpPr/>
          <p:nvPr/>
        </p:nvCxnSpPr>
        <p:spPr>
          <a:xfrm flipH="1" flipV="1">
            <a:off x="8707437" y="4738687"/>
            <a:ext cx="39687" cy="79375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l3_g_d_4" descr="Editable line; source id cl3_g_d_4"/>
          <p:cNvCxnSpPr/>
          <p:nvPr/>
        </p:nvCxnSpPr>
        <p:spPr>
          <a:xfrm flipV="1">
            <a:off x="8707437" y="4611687"/>
            <a:ext cx="87312" cy="12700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cl3_g_n0" descr="Editable shape; source id cl3_g_n0"/>
          <p:cNvSpPr/>
          <p:nvPr/>
        </p:nvSpPr>
        <p:spPr>
          <a:xfrm>
            <a:off x="8723312" y="4857749"/>
            <a:ext cx="47624" cy="47624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cl3_g_n1" descr="Editable shape; source id cl3_g_n1"/>
          <p:cNvSpPr/>
          <p:nvPr/>
        </p:nvSpPr>
        <p:spPr>
          <a:xfrm>
            <a:off x="8786812" y="4873624"/>
            <a:ext cx="47624" cy="47624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cl3_g_n2" descr="Editable shape; source id cl3_g_n2"/>
          <p:cNvSpPr/>
          <p:nvPr/>
        </p:nvSpPr>
        <p:spPr>
          <a:xfrm>
            <a:off x="8842374" y="4841874"/>
            <a:ext cx="47624" cy="47624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cl3_k_c" descr="Editable shape; source id cl3_k_c"/>
          <p:cNvSpPr/>
          <p:nvPr/>
        </p:nvSpPr>
        <p:spPr>
          <a:xfrm>
            <a:off x="9159874" y="4643437"/>
            <a:ext cx="230187" cy="230187"/>
          </a:xfrm>
          <a:prstGeom prst="ellipse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7" name="cl3_k_k_0" descr="Editable line; source id cl3_k_k_0"/>
          <p:cNvCxnSpPr/>
          <p:nvPr/>
        </p:nvCxnSpPr>
        <p:spPr>
          <a:xfrm>
            <a:off x="9215437" y="4762499"/>
            <a:ext cx="39687" cy="39688"/>
          </a:xfrm>
          <a:prstGeom prst="line">
            <a:avLst/>
          </a:prstGeom>
          <a:ln w="10318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l3_k_k_1" descr="Editable line; source id cl3_k_k_1"/>
          <p:cNvCxnSpPr/>
          <p:nvPr/>
        </p:nvCxnSpPr>
        <p:spPr>
          <a:xfrm flipV="1">
            <a:off x="9255124" y="4706937"/>
            <a:ext cx="79375" cy="95250"/>
          </a:xfrm>
          <a:prstGeom prst="line">
            <a:avLst/>
          </a:prstGeom>
          <a:ln w="10318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cl3_t" descr="Editable text; source id cl3_t"/>
          <p:cNvSpPr txBox="1"/>
          <p:nvPr/>
        </p:nvSpPr>
        <p:spPr>
          <a:xfrm>
            <a:off x="7905749" y="5032374"/>
            <a:ext cx="227012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Cooling, growth, separation</a:t>
            </a:r>
          </a:p>
        </p:txBody>
      </p:sp>
      <p:cxnSp>
        <p:nvCxnSpPr>
          <p:cNvPr id="140" name="cl3_s" descr="Editable line; source id cl3_s"/>
          <p:cNvCxnSpPr/>
          <p:nvPr/>
        </p:nvCxnSpPr>
        <p:spPr>
          <a:xfrm>
            <a:off x="7810499" y="4540249"/>
            <a:ext cx="0" cy="762000"/>
          </a:xfrm>
          <a:prstGeom prst="line">
            <a:avLst/>
          </a:prstGeom>
          <a:ln w="9524">
            <a:solidFill>
              <a:srgbClr val="E3E8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cav" descr="Editable shape; source id cav"/>
          <p:cNvSpPr/>
          <p:nvPr/>
        </p:nvSpPr>
        <p:spPr>
          <a:xfrm>
            <a:off x="10001249" y="4635499"/>
            <a:ext cx="1865312" cy="317499"/>
          </a:xfrm>
          <a:prstGeom prst="roundRect">
            <a:avLst>
              <a:gd name="adj" fmla="val 50000"/>
            </a:avLst>
          </a:prstGeom>
          <a:solidFill>
            <a:srgbClr val="FFF6E3"/>
          </a:solidFill>
          <a:ln w="8731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cav_t" descr="Editable text; source id cav_t"/>
          <p:cNvSpPr txBox="1"/>
          <p:nvPr/>
        </p:nvSpPr>
        <p:spPr>
          <a:xfrm>
            <a:off x="10080624" y="4667249"/>
            <a:ext cx="1706562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1187" b="0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Framework ≠ recipe</a:t>
            </a:r>
          </a:p>
        </p:txBody>
      </p:sp>
      <p:sp>
        <p:nvSpPr>
          <p:cNvPr id="143" name="k1" descr="Editable shape; source id k1"/>
          <p:cNvSpPr/>
          <p:nvPr/>
        </p:nvSpPr>
        <p:spPr>
          <a:xfrm>
            <a:off x="396874" y="6270624"/>
            <a:ext cx="2778124" cy="1476374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k1_b" descr="Editable shape; source id k1_b"/>
          <p:cNvSpPr/>
          <p:nvPr/>
        </p:nvSpPr>
        <p:spPr>
          <a:xfrm>
            <a:off x="396874" y="6270624"/>
            <a:ext cx="55562" cy="1476374"/>
          </a:xfrm>
          <a:prstGeom prst="roundRect">
            <a:avLst>
              <a:gd name="adj" fmla="val 42857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k1_t" descr="Editable text; source id k1_t"/>
          <p:cNvSpPr txBox="1"/>
          <p:nvPr/>
        </p:nvSpPr>
        <p:spPr>
          <a:xfrm>
            <a:off x="523874" y="6381749"/>
            <a:ext cx="2524124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18"/>
              </a:lnSpc>
              <a:spcBef>
                <a:spcPts val="0"/>
              </a:spcBef>
              <a:spcAft>
                <a:spcPts val="0"/>
              </a:spcAft>
              <a:defRPr sz="1458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458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Single-Crystal Structure</a:t>
            </a:r>
          </a:p>
        </p:txBody>
      </p:sp>
      <p:cxnSp>
        <p:nvCxnSpPr>
          <p:cNvPr id="146" name="k1_g_h0" descr="Editable line; source id k1_g_h0"/>
          <p:cNvCxnSpPr/>
          <p:nvPr/>
        </p:nvCxnSpPr>
        <p:spPr>
          <a:xfrm>
            <a:off x="1650999" y="6826249"/>
            <a:ext cx="269875" cy="0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k1_g_v0" descr="Editable line; source id k1_g_v0"/>
          <p:cNvCxnSpPr/>
          <p:nvPr/>
        </p:nvCxnSpPr>
        <p:spPr>
          <a:xfrm>
            <a:off x="1650999" y="6826249"/>
            <a:ext cx="0" cy="269875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k1_g_h1" descr="Editable line; source id k1_g_h1"/>
          <p:cNvCxnSpPr/>
          <p:nvPr/>
        </p:nvCxnSpPr>
        <p:spPr>
          <a:xfrm>
            <a:off x="1650999" y="6961187"/>
            <a:ext cx="269875" cy="0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k1_g_v1" descr="Editable line; source id k1_g_v1"/>
          <p:cNvCxnSpPr/>
          <p:nvPr/>
        </p:nvCxnSpPr>
        <p:spPr>
          <a:xfrm>
            <a:off x="1785937" y="6826249"/>
            <a:ext cx="0" cy="269875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k1_g_h2" descr="Editable line; source id k1_g_h2"/>
          <p:cNvCxnSpPr/>
          <p:nvPr/>
        </p:nvCxnSpPr>
        <p:spPr>
          <a:xfrm>
            <a:off x="1650999" y="7096124"/>
            <a:ext cx="269875" cy="0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k1_g_v2" descr="Editable line; source id k1_g_v2"/>
          <p:cNvCxnSpPr/>
          <p:nvPr/>
        </p:nvCxnSpPr>
        <p:spPr>
          <a:xfrm>
            <a:off x="1920874" y="6826249"/>
            <a:ext cx="0" cy="269875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k1_g_d00" descr="Editable shape; source id k1_g_d00"/>
          <p:cNvSpPr/>
          <p:nvPr/>
        </p:nvSpPr>
        <p:spPr>
          <a:xfrm>
            <a:off x="1619249" y="6794499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k1_g_d01" descr="Editable shape; source id k1_g_d01"/>
          <p:cNvSpPr/>
          <p:nvPr/>
        </p:nvSpPr>
        <p:spPr>
          <a:xfrm>
            <a:off x="1619249" y="6929437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k1_g_d02" descr="Editable shape; source id k1_g_d02"/>
          <p:cNvSpPr/>
          <p:nvPr/>
        </p:nvSpPr>
        <p:spPr>
          <a:xfrm>
            <a:off x="1619249" y="7064374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k1_g_d10" descr="Editable shape; source id k1_g_d10"/>
          <p:cNvSpPr/>
          <p:nvPr/>
        </p:nvSpPr>
        <p:spPr>
          <a:xfrm>
            <a:off x="1754187" y="6794499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k1_g_d11" descr="Editable shape; source id k1_g_d11"/>
          <p:cNvSpPr/>
          <p:nvPr/>
        </p:nvSpPr>
        <p:spPr>
          <a:xfrm>
            <a:off x="1754187" y="6929437"/>
            <a:ext cx="63499" cy="63499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k1_g_d12" descr="Editable shape; source id k1_g_d12"/>
          <p:cNvSpPr/>
          <p:nvPr/>
        </p:nvSpPr>
        <p:spPr>
          <a:xfrm>
            <a:off x="1754187" y="7064374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k1_g_d20" descr="Editable shape; source id k1_g_d20"/>
          <p:cNvSpPr/>
          <p:nvPr/>
        </p:nvSpPr>
        <p:spPr>
          <a:xfrm>
            <a:off x="1889124" y="6794499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k1_g_d21" descr="Editable shape; source id k1_g_d21"/>
          <p:cNvSpPr/>
          <p:nvPr/>
        </p:nvSpPr>
        <p:spPr>
          <a:xfrm>
            <a:off x="1889124" y="6929437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k1_g_d22" descr="Editable shape; source id k1_g_d22"/>
          <p:cNvSpPr/>
          <p:nvPr/>
        </p:nvSpPr>
        <p:spPr>
          <a:xfrm>
            <a:off x="1889124" y="7064374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k1_s" descr="Editable shape; source id k1_s"/>
          <p:cNvSpPr/>
          <p:nvPr/>
        </p:nvSpPr>
        <p:spPr>
          <a:xfrm>
            <a:off x="539749" y="7286624"/>
            <a:ext cx="2492374" cy="349249"/>
          </a:xfrm>
          <a:prstGeom prst="roundRect">
            <a:avLst>
              <a:gd name="adj" fmla="val 13636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k1_s_t" descr="Editable text; source id k1_s_t"/>
          <p:cNvSpPr txBox="1"/>
          <p:nvPr/>
        </p:nvSpPr>
        <p:spPr>
          <a:xfrm>
            <a:off x="595312" y="7318374"/>
            <a:ext cx="2381249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56"/>
              </a:lnSpc>
              <a:spcBef>
                <a:spcPts val="0"/>
              </a:spcBef>
              <a:spcAft>
                <a:spcPts val="0"/>
              </a:spcAft>
              <a:defRPr sz="980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980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Structural identity and site occupancy</a:t>
            </a:r>
          </a:p>
        </p:txBody>
      </p:sp>
      <p:sp>
        <p:nvSpPr>
          <p:cNvPr id="163" name="k2" descr="Editable shape; source id k2"/>
          <p:cNvSpPr/>
          <p:nvPr/>
        </p:nvSpPr>
        <p:spPr>
          <a:xfrm>
            <a:off x="3270249" y="6270624"/>
            <a:ext cx="2778124" cy="1476374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k2_b" descr="Editable shape; source id k2_b"/>
          <p:cNvSpPr/>
          <p:nvPr/>
        </p:nvSpPr>
        <p:spPr>
          <a:xfrm>
            <a:off x="3270249" y="6270624"/>
            <a:ext cx="55562" cy="1476374"/>
          </a:xfrm>
          <a:prstGeom prst="roundRect">
            <a:avLst>
              <a:gd name="adj" fmla="val 42857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k2_t" descr="Editable text; source id k2_t"/>
          <p:cNvSpPr txBox="1"/>
          <p:nvPr/>
        </p:nvSpPr>
        <p:spPr>
          <a:xfrm>
            <a:off x="3397249" y="6381749"/>
            <a:ext cx="2524124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499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PXRD / Rietveld</a:t>
            </a:r>
          </a:p>
        </p:txBody>
      </p:sp>
      <p:cxnSp>
        <p:nvCxnSpPr>
          <p:cNvPr id="166" name="k2_g_a_0" descr="Editable line; source id k2_g_a_0"/>
          <p:cNvCxnSpPr/>
          <p:nvPr/>
        </p:nvCxnSpPr>
        <p:spPr>
          <a:xfrm>
            <a:off x="4484687" y="7096124"/>
            <a:ext cx="71437" cy="0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k2_g_a_1" descr="Editable line; source id k2_g_a_1"/>
          <p:cNvCxnSpPr/>
          <p:nvPr/>
        </p:nvCxnSpPr>
        <p:spPr>
          <a:xfrm flipV="1">
            <a:off x="4556124" y="6889749"/>
            <a:ext cx="23813" cy="206375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k2_g_a_2" descr="Editable line; source id k2_g_a_2"/>
          <p:cNvCxnSpPr/>
          <p:nvPr/>
        </p:nvCxnSpPr>
        <p:spPr>
          <a:xfrm>
            <a:off x="4579937" y="6889749"/>
            <a:ext cx="31750" cy="206375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k2_g_a_3" descr="Editable line; source id k2_g_a_3"/>
          <p:cNvCxnSpPr/>
          <p:nvPr/>
        </p:nvCxnSpPr>
        <p:spPr>
          <a:xfrm>
            <a:off x="4611687" y="7096124"/>
            <a:ext cx="47625" cy="0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k2_g_a_4" descr="Editable line; source id k2_g_a_4"/>
          <p:cNvCxnSpPr/>
          <p:nvPr/>
        </p:nvCxnSpPr>
        <p:spPr>
          <a:xfrm flipV="1">
            <a:off x="4659312" y="6961187"/>
            <a:ext cx="23812" cy="134937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k2_g_a_5" descr="Editable line; source id k2_g_a_5"/>
          <p:cNvCxnSpPr/>
          <p:nvPr/>
        </p:nvCxnSpPr>
        <p:spPr>
          <a:xfrm>
            <a:off x="4683124" y="6961187"/>
            <a:ext cx="23813" cy="134937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k2_g_a_6" descr="Editable line; source id k2_g_a_6"/>
          <p:cNvCxnSpPr/>
          <p:nvPr/>
        </p:nvCxnSpPr>
        <p:spPr>
          <a:xfrm>
            <a:off x="4706937" y="7096124"/>
            <a:ext cx="55562" cy="0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k2_g_a_7" descr="Editable line; source id k2_g_a_7"/>
          <p:cNvCxnSpPr/>
          <p:nvPr/>
        </p:nvCxnSpPr>
        <p:spPr>
          <a:xfrm flipV="1">
            <a:off x="4762499" y="7008812"/>
            <a:ext cx="15875" cy="87312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k2_g_a_8" descr="Editable line; source id k2_g_a_8"/>
          <p:cNvCxnSpPr/>
          <p:nvPr/>
        </p:nvCxnSpPr>
        <p:spPr>
          <a:xfrm>
            <a:off x="4778374" y="7008812"/>
            <a:ext cx="15875" cy="87312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k2_g_a_9" descr="Editable line; source id k2_g_a_9"/>
          <p:cNvCxnSpPr/>
          <p:nvPr/>
        </p:nvCxnSpPr>
        <p:spPr>
          <a:xfrm>
            <a:off x="4794249" y="7096124"/>
            <a:ext cx="47625" cy="0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k2_s" descr="Editable shape; source id k2_s"/>
          <p:cNvSpPr/>
          <p:nvPr/>
        </p:nvSpPr>
        <p:spPr>
          <a:xfrm>
            <a:off x="3413124" y="7286624"/>
            <a:ext cx="2492374" cy="349249"/>
          </a:xfrm>
          <a:prstGeom prst="roundRect">
            <a:avLst>
              <a:gd name="adj" fmla="val 13636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k2_s_t" descr="Editable text; source id k2_s_t"/>
          <p:cNvSpPr txBox="1"/>
          <p:nvPr/>
        </p:nvSpPr>
        <p:spPr>
          <a:xfrm>
            <a:off x="3468687" y="7318374"/>
            <a:ext cx="2381249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59"/>
              </a:lnSpc>
              <a:spcBef>
                <a:spcPts val="0"/>
              </a:spcBef>
              <a:spcAft>
                <a:spcPts val="0"/>
              </a:spcAft>
              <a:defRPr sz="1148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48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Bulk phase purity and impurities</a:t>
            </a:r>
          </a:p>
        </p:txBody>
      </p:sp>
      <p:sp>
        <p:nvSpPr>
          <p:cNvPr id="178" name="k3" descr="Editable shape; source id k3"/>
          <p:cNvSpPr/>
          <p:nvPr/>
        </p:nvSpPr>
        <p:spPr>
          <a:xfrm>
            <a:off x="6143624" y="6270624"/>
            <a:ext cx="2778124" cy="1476374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k3_b" descr="Editable shape; source id k3_b"/>
          <p:cNvSpPr/>
          <p:nvPr/>
        </p:nvSpPr>
        <p:spPr>
          <a:xfrm>
            <a:off x="6143624" y="6270624"/>
            <a:ext cx="55562" cy="1476374"/>
          </a:xfrm>
          <a:prstGeom prst="roundRect">
            <a:avLst>
              <a:gd name="adj" fmla="val 42857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k3_t" descr="Editable text; source id k3_t"/>
          <p:cNvSpPr txBox="1"/>
          <p:nvPr/>
        </p:nvSpPr>
        <p:spPr>
          <a:xfrm>
            <a:off x="6270624" y="6381749"/>
            <a:ext cx="2524124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96"/>
              </a:lnSpc>
              <a:spcBef>
                <a:spcPts val="0"/>
              </a:spcBef>
              <a:spcAft>
                <a:spcPts val="0"/>
              </a:spcAft>
              <a:defRPr sz="1096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096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Composition and Contamination</a:t>
            </a:r>
          </a:p>
        </p:txBody>
      </p:sp>
      <p:sp>
        <p:nvSpPr>
          <p:cNvPr id="181" name="k3_g_d0" descr="Editable shape; source id k3_g_d0"/>
          <p:cNvSpPr/>
          <p:nvPr/>
        </p:nvSpPr>
        <p:spPr>
          <a:xfrm>
            <a:off x="7358062" y="6897687"/>
            <a:ext cx="119062" cy="119062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k3_g_d1" descr="Editable shape; source id k3_g_d1"/>
          <p:cNvSpPr/>
          <p:nvPr/>
        </p:nvSpPr>
        <p:spPr>
          <a:xfrm>
            <a:off x="7492999" y="6921499"/>
            <a:ext cx="87312" cy="87312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k3_g_d2" descr="Editable shape; source id k3_g_d2"/>
          <p:cNvSpPr/>
          <p:nvPr/>
        </p:nvSpPr>
        <p:spPr>
          <a:xfrm>
            <a:off x="7612062" y="6929437"/>
            <a:ext cx="63499" cy="63499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k3_s" descr="Editable shape; source id k3_s"/>
          <p:cNvSpPr/>
          <p:nvPr/>
        </p:nvSpPr>
        <p:spPr>
          <a:xfrm>
            <a:off x="6286499" y="7286624"/>
            <a:ext cx="2492374" cy="349249"/>
          </a:xfrm>
          <a:prstGeom prst="roundRect">
            <a:avLst>
              <a:gd name="adj" fmla="val 13636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k3_s_t" descr="Editable text; source id k3_s_t"/>
          <p:cNvSpPr txBox="1"/>
          <p:nvPr/>
        </p:nvSpPr>
        <p:spPr>
          <a:xfrm>
            <a:off x="6342062" y="7318374"/>
            <a:ext cx="2381249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Nominal–local–bulk mean</a:t>
            </a:r>
          </a:p>
        </p:txBody>
      </p:sp>
      <p:sp>
        <p:nvSpPr>
          <p:cNvPr id="186" name="k4" descr="Editable shape; source id k4"/>
          <p:cNvSpPr/>
          <p:nvPr/>
        </p:nvSpPr>
        <p:spPr>
          <a:xfrm>
            <a:off x="9016999" y="6270624"/>
            <a:ext cx="2778124" cy="1476374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k4_b" descr="Editable shape; source id k4_b"/>
          <p:cNvSpPr/>
          <p:nvPr/>
        </p:nvSpPr>
        <p:spPr>
          <a:xfrm>
            <a:off x="9016999" y="6270624"/>
            <a:ext cx="55562" cy="1476374"/>
          </a:xfrm>
          <a:prstGeom prst="roundRect">
            <a:avLst>
              <a:gd name="adj" fmla="val 42857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k4_t" descr="Editable text; source id k4_t"/>
          <p:cNvSpPr txBox="1"/>
          <p:nvPr/>
        </p:nvSpPr>
        <p:spPr>
          <a:xfrm>
            <a:off x="9143999" y="6381749"/>
            <a:ext cx="2524124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308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308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High-Temperature Stability</a:t>
            </a:r>
          </a:p>
        </p:txBody>
      </p:sp>
      <p:sp>
        <p:nvSpPr>
          <p:cNvPr id="189" name="k4_g_t" descr="Editable shape; source id k4_g_t"/>
          <p:cNvSpPr/>
          <p:nvPr/>
        </p:nvSpPr>
        <p:spPr>
          <a:xfrm>
            <a:off x="10366374" y="6778624"/>
            <a:ext cx="87312" cy="246062"/>
          </a:xfrm>
          <a:prstGeom prst="roundRect">
            <a:avLst>
              <a:gd name="adj" fmla="val 49090"/>
            </a:avLst>
          </a:prstGeom>
          <a:noFill/>
          <a:ln w="8572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k4_g_b" descr="Editable shape; source id k4_g_b"/>
          <p:cNvSpPr/>
          <p:nvPr/>
        </p:nvSpPr>
        <p:spPr>
          <a:xfrm>
            <a:off x="10334624" y="7024687"/>
            <a:ext cx="134937" cy="134937"/>
          </a:xfrm>
          <a:prstGeom prst="ellipse">
            <a:avLst/>
          </a:prstGeom>
          <a:noFill/>
          <a:ln w="8572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1" name="k4_g_m0" descr="Editable line; source id k4_g_m0"/>
          <p:cNvCxnSpPr/>
          <p:nvPr/>
        </p:nvCxnSpPr>
        <p:spPr>
          <a:xfrm>
            <a:off x="10453687" y="6850062"/>
            <a:ext cx="55562" cy="0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k4_g_m1" descr="Editable line; source id k4_g_m1"/>
          <p:cNvCxnSpPr/>
          <p:nvPr/>
        </p:nvCxnSpPr>
        <p:spPr>
          <a:xfrm>
            <a:off x="10453687" y="6897687"/>
            <a:ext cx="55562" cy="0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k4_g_m2" descr="Editable line; source id k4_g_m2"/>
          <p:cNvCxnSpPr/>
          <p:nvPr/>
        </p:nvCxnSpPr>
        <p:spPr>
          <a:xfrm>
            <a:off x="10453687" y="6953249"/>
            <a:ext cx="55562" cy="0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k4_s" descr="Editable shape; source id k4_s"/>
          <p:cNvSpPr/>
          <p:nvPr/>
        </p:nvSpPr>
        <p:spPr>
          <a:xfrm>
            <a:off x="9159874" y="7286624"/>
            <a:ext cx="2492374" cy="349249"/>
          </a:xfrm>
          <a:prstGeom prst="roundRect">
            <a:avLst>
              <a:gd name="adj" fmla="val 13636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k4_s_t" descr="Editable text; source id k4_s_t"/>
          <p:cNvSpPr txBox="1"/>
          <p:nvPr/>
        </p:nvSpPr>
        <p:spPr>
          <a:xfrm>
            <a:off x="9215437" y="7318374"/>
            <a:ext cx="2381249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In situ HT ≠ cooled product</a:t>
            </a:r>
          </a:p>
        </p:txBody>
      </p:sp>
      <p:sp>
        <p:nvSpPr>
          <p:cNvPr id="196" name="d0_0" descr="Editable line; source id d0_0"/>
          <p:cNvSpPr/>
          <p:nvPr/>
        </p:nvSpPr>
        <p:spPr>
          <a:xfrm>
            <a:off x="1460500" y="3206750"/>
            <a:ext cx="79375" cy="349250"/>
          </a:xfrm>
          <a:custGeom>
            <a:avLst/>
            <a:gdLst/>
            <a:ahLst/>
            <a:cxnLst/>
            <a:rect l="l" t="t" r="r" b="b"/>
            <a:pathLst>
              <a:path w="10000" h="44000">
                <a:moveTo>
                  <a:pt x="5900" y="0"/>
                </a:moveTo>
                <a:lnTo>
                  <a:pt x="5900" y="32000"/>
                </a:lnTo>
                <a:lnTo>
                  <a:pt x="10000" y="32000"/>
                </a:lnTo>
                <a:lnTo>
                  <a:pt x="5000" y="44000"/>
                </a:lnTo>
                <a:lnTo>
                  <a:pt x="0" y="32000"/>
                </a:lnTo>
                <a:lnTo>
                  <a:pt x="4100" y="32000"/>
                </a:lnTo>
                <a:lnTo>
                  <a:pt x="410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d0_p" descr="Editable shape; source id d0_p"/>
          <p:cNvSpPr/>
          <p:nvPr/>
        </p:nvSpPr>
        <p:spPr>
          <a:xfrm>
            <a:off x="1793874" y="3222624"/>
            <a:ext cx="1698624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d0_p_t" descr="Editable text; source id d0_p_t"/>
          <p:cNvSpPr txBox="1"/>
          <p:nvPr/>
        </p:nvSpPr>
        <p:spPr>
          <a:xfrm>
            <a:off x="1873249" y="3254374"/>
            <a:ext cx="1539874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99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Ratio · temperature</a:t>
            </a:r>
          </a:p>
        </p:txBody>
      </p:sp>
      <p:sp>
        <p:nvSpPr>
          <p:cNvPr id="199" name="d1_0" descr="Editable line; source id d1_0"/>
          <p:cNvSpPr/>
          <p:nvPr/>
        </p:nvSpPr>
        <p:spPr>
          <a:xfrm>
            <a:off x="3746500" y="3206750"/>
            <a:ext cx="79375" cy="349250"/>
          </a:xfrm>
          <a:custGeom>
            <a:avLst/>
            <a:gdLst/>
            <a:ahLst/>
            <a:cxnLst/>
            <a:rect l="l" t="t" r="r" b="b"/>
            <a:pathLst>
              <a:path w="10000" h="44000">
                <a:moveTo>
                  <a:pt x="5900" y="0"/>
                </a:moveTo>
                <a:lnTo>
                  <a:pt x="5900" y="32000"/>
                </a:lnTo>
                <a:lnTo>
                  <a:pt x="10000" y="32000"/>
                </a:lnTo>
                <a:lnTo>
                  <a:pt x="5000" y="44000"/>
                </a:lnTo>
                <a:lnTo>
                  <a:pt x="0" y="32000"/>
                </a:lnTo>
                <a:lnTo>
                  <a:pt x="4100" y="32000"/>
                </a:lnTo>
                <a:lnTo>
                  <a:pt x="410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d1_p" descr="Editable shape; source id d1_p"/>
          <p:cNvSpPr/>
          <p:nvPr/>
        </p:nvSpPr>
        <p:spPr>
          <a:xfrm>
            <a:off x="4238624" y="3222624"/>
            <a:ext cx="1381124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d1_p_t" descr="Editable text; source id d1_p_t"/>
          <p:cNvSpPr txBox="1"/>
          <p:nvPr/>
        </p:nvSpPr>
        <p:spPr>
          <a:xfrm>
            <a:off x="4317999" y="3254374"/>
            <a:ext cx="1222374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99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Melt · crucible</a:t>
            </a:r>
          </a:p>
        </p:txBody>
      </p:sp>
      <p:sp>
        <p:nvSpPr>
          <p:cNvPr id="202" name="d2_0" descr="Editable line; source id d2_0"/>
          <p:cNvSpPr/>
          <p:nvPr/>
        </p:nvSpPr>
        <p:spPr>
          <a:xfrm>
            <a:off x="6032500" y="3206750"/>
            <a:ext cx="79375" cy="349250"/>
          </a:xfrm>
          <a:custGeom>
            <a:avLst/>
            <a:gdLst/>
            <a:ahLst/>
            <a:cxnLst/>
            <a:rect l="l" t="t" r="r" b="b"/>
            <a:pathLst>
              <a:path w="10000" h="44000">
                <a:moveTo>
                  <a:pt x="5900" y="0"/>
                </a:moveTo>
                <a:lnTo>
                  <a:pt x="5900" y="32000"/>
                </a:lnTo>
                <a:lnTo>
                  <a:pt x="10000" y="32000"/>
                </a:lnTo>
                <a:lnTo>
                  <a:pt x="5000" y="44000"/>
                </a:lnTo>
                <a:lnTo>
                  <a:pt x="0" y="32000"/>
                </a:lnTo>
                <a:lnTo>
                  <a:pt x="4100" y="32000"/>
                </a:lnTo>
                <a:lnTo>
                  <a:pt x="410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d2_p" descr="Editable shape; source id d2_p"/>
          <p:cNvSpPr/>
          <p:nvPr/>
        </p:nvSpPr>
        <p:spPr>
          <a:xfrm>
            <a:off x="6318249" y="3222624"/>
            <a:ext cx="1777999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d2_p_t" descr="Editable text; source id d2_p_t"/>
          <p:cNvSpPr txBox="1"/>
          <p:nvPr/>
        </p:nvSpPr>
        <p:spPr>
          <a:xfrm>
            <a:off x="6397624" y="3254374"/>
            <a:ext cx="1619249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99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Mixing · calcination</a:t>
            </a:r>
          </a:p>
        </p:txBody>
      </p:sp>
      <p:sp>
        <p:nvSpPr>
          <p:cNvPr id="205" name="d3_0" descr="Editable line; source id d3_0"/>
          <p:cNvSpPr/>
          <p:nvPr/>
        </p:nvSpPr>
        <p:spPr>
          <a:xfrm>
            <a:off x="8318500" y="3206750"/>
            <a:ext cx="79375" cy="349250"/>
          </a:xfrm>
          <a:custGeom>
            <a:avLst/>
            <a:gdLst/>
            <a:ahLst/>
            <a:cxnLst/>
            <a:rect l="l" t="t" r="r" b="b"/>
            <a:pathLst>
              <a:path w="10000" h="44000">
                <a:moveTo>
                  <a:pt x="5900" y="0"/>
                </a:moveTo>
                <a:lnTo>
                  <a:pt x="5900" y="32000"/>
                </a:lnTo>
                <a:lnTo>
                  <a:pt x="10000" y="32000"/>
                </a:lnTo>
                <a:lnTo>
                  <a:pt x="5000" y="44000"/>
                </a:lnTo>
                <a:lnTo>
                  <a:pt x="0" y="32000"/>
                </a:lnTo>
                <a:lnTo>
                  <a:pt x="4100" y="32000"/>
                </a:lnTo>
                <a:lnTo>
                  <a:pt x="410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d3_p" descr="Editable shape; source id d3_p"/>
          <p:cNvSpPr/>
          <p:nvPr/>
        </p:nvSpPr>
        <p:spPr>
          <a:xfrm>
            <a:off x="8493124" y="3222624"/>
            <a:ext cx="2008187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d3_p_t" descr="Editable text; source id d3_p_t"/>
          <p:cNvSpPr txBox="1"/>
          <p:nvPr/>
        </p:nvSpPr>
        <p:spPr>
          <a:xfrm>
            <a:off x="8572499" y="3254374"/>
            <a:ext cx="1849437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99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Milling · contamination</a:t>
            </a:r>
          </a:p>
        </p:txBody>
      </p:sp>
      <p:cxnSp>
        <p:nvCxnSpPr>
          <p:cNvPr id="208" name="d4_0" descr="Editable line; source id d4_0"/>
          <p:cNvCxnSpPr/>
          <p:nvPr/>
        </p:nvCxnSpPr>
        <p:spPr>
          <a:xfrm>
            <a:off x="10644187" y="3206749"/>
            <a:ext cx="0" cy="349250"/>
          </a:xfrm>
          <a:prstGeom prst="line">
            <a:avLst/>
          </a:prstGeom>
          <a:ln w="14287">
            <a:solidFill>
              <a:srgbClr val="4B5563"/>
            </a:solidFill>
            <a:custDash>
              <a:ds d="611111" sp="388889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d4_p" descr="Editable shape; source id d4_p"/>
          <p:cNvSpPr/>
          <p:nvPr/>
        </p:nvSpPr>
        <p:spPr>
          <a:xfrm>
            <a:off x="9794874" y="3571874"/>
            <a:ext cx="1698624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d4_p_t" descr="Editable text; source id d4_p_t"/>
          <p:cNvSpPr txBox="1"/>
          <p:nvPr/>
        </p:nvSpPr>
        <p:spPr>
          <a:xfrm>
            <a:off x="9874249" y="3603624"/>
            <a:ext cx="1539874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99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Seeding · annealing</a:t>
            </a:r>
          </a:p>
        </p:txBody>
      </p:sp>
      <p:sp>
        <p:nvSpPr>
          <p:cNvPr id="211" name="c0_0" descr="Editable line; source id c0_0"/>
          <p:cNvSpPr/>
          <p:nvPr/>
        </p:nvSpPr>
        <p:spPr>
          <a:xfrm>
            <a:off x="1746250" y="5572125"/>
            <a:ext cx="79375" cy="174625"/>
          </a:xfrm>
          <a:custGeom>
            <a:avLst/>
            <a:gdLst/>
            <a:ahLst/>
            <a:cxnLst/>
            <a:rect l="l" t="t" r="r" b="b"/>
            <a:pathLst>
              <a:path w="10000" h="22000">
                <a:moveTo>
                  <a:pt x="5900" y="0"/>
                </a:moveTo>
                <a:lnTo>
                  <a:pt x="5900" y="10000"/>
                </a:lnTo>
                <a:lnTo>
                  <a:pt x="10000" y="10000"/>
                </a:lnTo>
                <a:lnTo>
                  <a:pt x="5000" y="22000"/>
                </a:lnTo>
                <a:lnTo>
                  <a:pt x="0" y="10000"/>
                </a:lnTo>
                <a:lnTo>
                  <a:pt x="4100" y="10000"/>
                </a:lnTo>
                <a:lnTo>
                  <a:pt x="410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c0_p" descr="Editable shape; source id c0_p"/>
          <p:cNvSpPr/>
          <p:nvPr/>
        </p:nvSpPr>
        <p:spPr>
          <a:xfrm>
            <a:off x="2730499" y="5508624"/>
            <a:ext cx="992187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c0_p_t" descr="Editable text; source id c0_p_t"/>
          <p:cNvSpPr txBox="1"/>
          <p:nvPr/>
        </p:nvSpPr>
        <p:spPr>
          <a:xfrm>
            <a:off x="2809874" y="5540374"/>
            <a:ext cx="833437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99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Structure</a:t>
            </a:r>
          </a:p>
        </p:txBody>
      </p:sp>
      <p:sp>
        <p:nvSpPr>
          <p:cNvPr id="214" name="c1_0" descr="Editable line; source id c1_0"/>
          <p:cNvSpPr/>
          <p:nvPr/>
        </p:nvSpPr>
        <p:spPr>
          <a:xfrm>
            <a:off x="4619625" y="5572125"/>
            <a:ext cx="79375" cy="174625"/>
          </a:xfrm>
          <a:custGeom>
            <a:avLst/>
            <a:gdLst/>
            <a:ahLst/>
            <a:cxnLst/>
            <a:rect l="l" t="t" r="r" b="b"/>
            <a:pathLst>
              <a:path w="10000" h="22000">
                <a:moveTo>
                  <a:pt x="5900" y="0"/>
                </a:moveTo>
                <a:lnTo>
                  <a:pt x="5900" y="10000"/>
                </a:lnTo>
                <a:lnTo>
                  <a:pt x="10000" y="10000"/>
                </a:lnTo>
                <a:lnTo>
                  <a:pt x="5000" y="22000"/>
                </a:lnTo>
                <a:lnTo>
                  <a:pt x="0" y="10000"/>
                </a:lnTo>
                <a:lnTo>
                  <a:pt x="4100" y="10000"/>
                </a:lnTo>
                <a:lnTo>
                  <a:pt x="410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c1_p" descr="Editable shape; source id c1_p"/>
          <p:cNvSpPr/>
          <p:nvPr/>
        </p:nvSpPr>
        <p:spPr>
          <a:xfrm>
            <a:off x="5302249" y="5508624"/>
            <a:ext cx="1579562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c1_p_t" descr="Editable text; source id c1_p_t"/>
          <p:cNvSpPr txBox="1"/>
          <p:nvPr/>
        </p:nvSpPr>
        <p:spPr>
          <a:xfrm>
            <a:off x="5381624" y="5540374"/>
            <a:ext cx="1420812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99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Phase composition</a:t>
            </a:r>
          </a:p>
        </p:txBody>
      </p:sp>
      <p:sp>
        <p:nvSpPr>
          <p:cNvPr id="217" name="c2_0" descr="Editable line; source id c2_0"/>
          <p:cNvSpPr/>
          <p:nvPr/>
        </p:nvSpPr>
        <p:spPr>
          <a:xfrm>
            <a:off x="7493000" y="5572125"/>
            <a:ext cx="79375" cy="174625"/>
          </a:xfrm>
          <a:custGeom>
            <a:avLst/>
            <a:gdLst/>
            <a:ahLst/>
            <a:cxnLst/>
            <a:rect l="l" t="t" r="r" b="b"/>
            <a:pathLst>
              <a:path w="10000" h="22000">
                <a:moveTo>
                  <a:pt x="5900" y="0"/>
                </a:moveTo>
                <a:lnTo>
                  <a:pt x="5900" y="10000"/>
                </a:lnTo>
                <a:lnTo>
                  <a:pt x="10000" y="10000"/>
                </a:lnTo>
                <a:lnTo>
                  <a:pt x="5000" y="22000"/>
                </a:lnTo>
                <a:lnTo>
                  <a:pt x="0" y="10000"/>
                </a:lnTo>
                <a:lnTo>
                  <a:pt x="4100" y="10000"/>
                </a:lnTo>
                <a:lnTo>
                  <a:pt x="410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c2_p" descr="Editable shape; source id c2_p"/>
          <p:cNvSpPr/>
          <p:nvPr/>
        </p:nvSpPr>
        <p:spPr>
          <a:xfrm>
            <a:off x="8397874" y="5508624"/>
            <a:ext cx="1150937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c2_p_t" descr="Editable text; source id c2_p_t"/>
          <p:cNvSpPr txBox="1"/>
          <p:nvPr/>
        </p:nvSpPr>
        <p:spPr>
          <a:xfrm>
            <a:off x="8477249" y="5540374"/>
            <a:ext cx="992187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99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Composition</a:t>
            </a:r>
          </a:p>
        </p:txBody>
      </p:sp>
      <p:sp>
        <p:nvSpPr>
          <p:cNvPr id="220" name="c3_0" descr="Editable line; source id c3_0"/>
          <p:cNvSpPr/>
          <p:nvPr/>
        </p:nvSpPr>
        <p:spPr>
          <a:xfrm>
            <a:off x="10366375" y="5572125"/>
            <a:ext cx="79375" cy="174625"/>
          </a:xfrm>
          <a:custGeom>
            <a:avLst/>
            <a:gdLst/>
            <a:ahLst/>
            <a:cxnLst/>
            <a:rect l="l" t="t" r="r" b="b"/>
            <a:pathLst>
              <a:path w="10000" h="22000">
                <a:moveTo>
                  <a:pt x="5900" y="0"/>
                </a:moveTo>
                <a:lnTo>
                  <a:pt x="5900" y="10000"/>
                </a:lnTo>
                <a:lnTo>
                  <a:pt x="10000" y="10000"/>
                </a:lnTo>
                <a:lnTo>
                  <a:pt x="5000" y="22000"/>
                </a:lnTo>
                <a:lnTo>
                  <a:pt x="0" y="10000"/>
                </a:lnTo>
                <a:lnTo>
                  <a:pt x="4100" y="10000"/>
                </a:lnTo>
                <a:lnTo>
                  <a:pt x="410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c3_p" descr="Editable shape; source id c3_p"/>
          <p:cNvSpPr/>
          <p:nvPr/>
        </p:nvSpPr>
        <p:spPr>
          <a:xfrm>
            <a:off x="9651999" y="5778499"/>
            <a:ext cx="1500187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c3_p_t" descr="Editable text; source id c3_p_t"/>
          <p:cNvSpPr txBox="1"/>
          <p:nvPr/>
        </p:nvSpPr>
        <p:spPr>
          <a:xfrm>
            <a:off x="9731374" y="5810249"/>
            <a:ext cx="1341437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99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High temperature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