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3 · Research roadmap of this review (round 5, F02).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L" descr="Editable shape; source id zL"/>
          <p:cNvSpPr/>
          <p:nvPr/>
        </p:nvSpPr>
        <p:spPr>
          <a:xfrm>
            <a:off x="206374" y="206374"/>
            <a:ext cx="11779249" cy="2873374"/>
          </a:xfrm>
          <a:prstGeom prst="roundRect">
            <a:avLst>
              <a:gd name="adj" fmla="val 3867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L_l" descr="Editable text; source id zL_l"/>
          <p:cNvSpPr txBox="1"/>
          <p:nvPr/>
        </p:nvSpPr>
        <p:spPr>
          <a:xfrm>
            <a:off x="349249" y="285749"/>
            <a:ext cx="2595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Literature Evidence</a:t>
            </a:r>
          </a:p>
        </p:txBody>
      </p:sp>
      <p:sp>
        <p:nvSpPr>
          <p:cNvPr id="4" name="zE" descr="Editable shape; source id zE"/>
          <p:cNvSpPr/>
          <p:nvPr/>
        </p:nvSpPr>
        <p:spPr>
          <a:xfrm>
            <a:off x="206374" y="3317874"/>
            <a:ext cx="11779249" cy="1841499"/>
          </a:xfrm>
          <a:prstGeom prst="roundRect">
            <a:avLst>
              <a:gd name="adj" fmla="val 6034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E_l" descr="Editable text; source id zE_l"/>
          <p:cNvSpPr txBox="1"/>
          <p:nvPr/>
        </p:nvSpPr>
        <p:spPr>
          <a:xfrm>
            <a:off x="349249" y="3397249"/>
            <a:ext cx="2468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Experimental Items</a:t>
            </a:r>
          </a:p>
        </p:txBody>
      </p:sp>
      <p:sp>
        <p:nvSpPr>
          <p:cNvPr id="6" name="zR" descr="Editable shape; source id zR"/>
          <p:cNvSpPr/>
          <p:nvPr/>
        </p:nvSpPr>
        <p:spPr>
          <a:xfrm>
            <a:off x="206374" y="5397499"/>
            <a:ext cx="11779249" cy="1396999"/>
          </a:xfrm>
          <a:prstGeom prst="roundRect">
            <a:avLst>
              <a:gd name="adj" fmla="val 7954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R_l" descr="Editable text; source id zR_l"/>
          <p:cNvSpPr txBox="1"/>
          <p:nvPr/>
        </p:nvSpPr>
        <p:spPr>
          <a:xfrm>
            <a:off x="349249" y="5476874"/>
            <a:ext cx="2087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Result Feedback</a:t>
            </a:r>
          </a:p>
        </p:txBody>
      </p:sp>
      <p:sp>
        <p:nvSpPr>
          <p:cNvPr id="8" name="zQ" descr="Editable shape; source id zQ"/>
          <p:cNvSpPr/>
          <p:nvPr/>
        </p:nvSpPr>
        <p:spPr>
          <a:xfrm>
            <a:off x="206374" y="6984999"/>
            <a:ext cx="11779249" cy="1079499"/>
          </a:xfrm>
          <a:prstGeom prst="roundRect">
            <a:avLst>
              <a:gd name="adj" fmla="val 10294"/>
            </a:avLst>
          </a:prstGeom>
          <a:solidFill>
            <a:srgbClr val="FFF6E3"/>
          </a:solidFill>
          <a:ln w="9524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Q_l" descr="Editable text; source id zQ_l"/>
          <p:cNvSpPr txBox="1"/>
          <p:nvPr/>
        </p:nvSpPr>
        <p:spPr>
          <a:xfrm>
            <a:off x="349249" y="7064374"/>
            <a:ext cx="1960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Open Questions</a:t>
            </a:r>
          </a:p>
        </p:txBody>
      </p:sp>
      <p:sp>
        <p:nvSpPr>
          <p:cNvPr id="10" name="c1" descr="Editable shape; source id c1"/>
          <p:cNvSpPr/>
          <p:nvPr/>
        </p:nvSpPr>
        <p:spPr>
          <a:xfrm>
            <a:off x="476249" y="730249"/>
            <a:ext cx="3571874" cy="2079624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1_b" descr="Editable shape; source id c1_b"/>
          <p:cNvSpPr/>
          <p:nvPr/>
        </p:nvSpPr>
        <p:spPr>
          <a:xfrm>
            <a:off x="476249" y="730249"/>
            <a:ext cx="63499" cy="207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1_g_s2" descr="Editable shape; source id c1_g_s2"/>
          <p:cNvSpPr/>
          <p:nvPr/>
        </p:nvSpPr>
        <p:spPr>
          <a:xfrm>
            <a:off x="785812" y="968374"/>
            <a:ext cx="158749" cy="238124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1_g_s1" descr="Editable shape; source id c1_g_s1"/>
          <p:cNvSpPr/>
          <p:nvPr/>
        </p:nvSpPr>
        <p:spPr>
          <a:xfrm>
            <a:off x="754062" y="936624"/>
            <a:ext cx="158749" cy="238124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1_g_s0" descr="Editable shape; source id c1_g_s0"/>
          <p:cNvSpPr/>
          <p:nvPr/>
        </p:nvSpPr>
        <p:spPr>
          <a:xfrm>
            <a:off x="730249" y="904874"/>
            <a:ext cx="158749" cy="238124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1_g_l1" descr="Editable line; source id c1_g_l1"/>
          <p:cNvCxnSpPr/>
          <p:nvPr/>
        </p:nvCxnSpPr>
        <p:spPr>
          <a:xfrm>
            <a:off x="769937" y="992187"/>
            <a:ext cx="103187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1_g_l2" descr="Editable line; source id c1_g_l2"/>
          <p:cNvCxnSpPr/>
          <p:nvPr/>
        </p:nvCxnSpPr>
        <p:spPr>
          <a:xfrm>
            <a:off x="769937" y="1039812"/>
            <a:ext cx="103187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1_g_l3" descr="Editable line; source id c1_g_l3"/>
          <p:cNvCxnSpPr/>
          <p:nvPr/>
        </p:nvCxnSpPr>
        <p:spPr>
          <a:xfrm>
            <a:off x="769937" y="1087437"/>
            <a:ext cx="71437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1_t" descr="Editable text; source id c1_t"/>
          <p:cNvSpPr txBox="1"/>
          <p:nvPr/>
        </p:nvSpPr>
        <p:spPr>
          <a:xfrm>
            <a:off x="1095374" y="857249"/>
            <a:ext cx="282574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Literature Basis</a:t>
            </a:r>
          </a:p>
        </p:txBody>
      </p:sp>
      <p:sp>
        <p:nvSpPr>
          <p:cNvPr id="19" name="c1_i0" descr="Editable shape; source id c1_i0"/>
          <p:cNvSpPr/>
          <p:nvPr/>
        </p:nvSpPr>
        <p:spPr>
          <a:xfrm>
            <a:off x="666749" y="1269999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1_i0_t" descr="Editable text; source id c1_i0_t"/>
          <p:cNvSpPr txBox="1"/>
          <p:nvPr/>
        </p:nvSpPr>
        <p:spPr>
          <a:xfrm>
            <a:off x="722312" y="1301749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Ba–Y–Si–O family</a:t>
            </a:r>
          </a:p>
        </p:txBody>
      </p:sp>
      <p:sp>
        <p:nvSpPr>
          <p:cNvPr id="21" name="c1_i1" descr="Editable shape; source id c1_i1"/>
          <p:cNvSpPr/>
          <p:nvPr/>
        </p:nvSpPr>
        <p:spPr>
          <a:xfrm>
            <a:off x="666749" y="1762124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1_i1_t" descr="Editable text; source id c1_i1_t"/>
          <p:cNvSpPr txBox="1"/>
          <p:nvPr/>
        </p:nvSpPr>
        <p:spPr>
          <a:xfrm>
            <a:off x="722312" y="1793874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Ba–Zn–Si–O structural neighbors</a:t>
            </a:r>
          </a:p>
        </p:txBody>
      </p:sp>
      <p:sp>
        <p:nvSpPr>
          <p:cNvPr id="23" name="c1_i2" descr="Editable shape; source id c1_i2"/>
          <p:cNvSpPr/>
          <p:nvPr/>
        </p:nvSpPr>
        <p:spPr>
          <a:xfrm>
            <a:off x="666749" y="2262187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1_i2_t" descr="Editable text; source id c1_i2_t"/>
          <p:cNvSpPr txBox="1"/>
          <p:nvPr/>
        </p:nvSpPr>
        <p:spPr>
          <a:xfrm>
            <a:off x="722312" y="2293937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Y–Si–O process reference</a:t>
            </a:r>
          </a:p>
        </p:txBody>
      </p:sp>
      <p:sp>
        <p:nvSpPr>
          <p:cNvPr id="25" name="c2" descr="Editable shape; source id c2"/>
          <p:cNvSpPr/>
          <p:nvPr/>
        </p:nvSpPr>
        <p:spPr>
          <a:xfrm>
            <a:off x="4444999" y="730249"/>
            <a:ext cx="3571874" cy="2079624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2_b" descr="Editable shape; source id c2_b"/>
          <p:cNvSpPr/>
          <p:nvPr/>
        </p:nvSpPr>
        <p:spPr>
          <a:xfrm>
            <a:off x="4444999" y="730249"/>
            <a:ext cx="63499" cy="207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2_g_o_0" descr="Editable line; source id c2_g_o_0"/>
          <p:cNvCxnSpPr/>
          <p:nvPr/>
        </p:nvCxnSpPr>
        <p:spPr>
          <a:xfrm>
            <a:off x="4802187" y="888999"/>
            <a:ext cx="134937" cy="873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2_g_o_1" descr="Editable line; source id c2_g_o_1"/>
          <p:cNvCxnSpPr/>
          <p:nvPr/>
        </p:nvCxnSpPr>
        <p:spPr>
          <a:xfrm flipH="1">
            <a:off x="4873624" y="976312"/>
            <a:ext cx="63500" cy="174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2_g_o_2" descr="Editable line; source id c2_g_o_2"/>
          <p:cNvCxnSpPr/>
          <p:nvPr/>
        </p:nvCxnSpPr>
        <p:spPr>
          <a:xfrm flipH="1">
            <a:off x="4730749" y="1150937"/>
            <a:ext cx="1428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2_g_o_3" descr="Editable line; source id c2_g_o_3"/>
          <p:cNvCxnSpPr/>
          <p:nvPr/>
        </p:nvCxnSpPr>
        <p:spPr>
          <a:xfrm flipH="1" flipV="1">
            <a:off x="4667249" y="976312"/>
            <a:ext cx="63500" cy="174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2_g_o_4" descr="Editable line; source id c2_g_o_4"/>
          <p:cNvCxnSpPr/>
          <p:nvPr/>
        </p:nvCxnSpPr>
        <p:spPr>
          <a:xfrm flipV="1">
            <a:off x="4667249" y="888999"/>
            <a:ext cx="134938" cy="873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2_g_a" descr="Editable line; source id c2_g_a"/>
          <p:cNvCxnSpPr/>
          <p:nvPr/>
        </p:nvCxnSpPr>
        <p:spPr>
          <a:xfrm>
            <a:off x="4802187" y="888999"/>
            <a:ext cx="0" cy="2619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2_g_b" descr="Editable line; source id c2_g_b"/>
          <p:cNvCxnSpPr/>
          <p:nvPr/>
        </p:nvCxnSpPr>
        <p:spPr>
          <a:xfrm>
            <a:off x="4667249" y="976312"/>
            <a:ext cx="2698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2_t" descr="Editable text; source id c2_t"/>
          <p:cNvSpPr txBox="1"/>
          <p:nvPr/>
        </p:nvSpPr>
        <p:spPr>
          <a:xfrm>
            <a:off x="5064124" y="857249"/>
            <a:ext cx="282574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Structural Hypothesis</a:t>
            </a:r>
          </a:p>
        </p:txBody>
      </p:sp>
      <p:sp>
        <p:nvSpPr>
          <p:cNvPr id="35" name="c2_i0" descr="Editable shape; source id c2_i0"/>
          <p:cNvSpPr/>
          <p:nvPr/>
        </p:nvSpPr>
        <p:spPr>
          <a:xfrm>
            <a:off x="4635499" y="1269999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2_i0_t" descr="Editable text; source id c2_i0_t"/>
          <p:cNvSpPr txBox="1"/>
          <p:nvPr/>
        </p:nvSpPr>
        <p:spPr>
          <a:xfrm>
            <a:off x="4691062" y="1301749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Local composition grid</a:t>
            </a:r>
          </a:p>
        </p:txBody>
      </p:sp>
      <p:sp>
        <p:nvSpPr>
          <p:cNvPr id="37" name="c2_i1" descr="Editable shape; source id c2_i1"/>
          <p:cNvSpPr/>
          <p:nvPr/>
        </p:nvSpPr>
        <p:spPr>
          <a:xfrm>
            <a:off x="4635499" y="1762124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2_i1_t" descr="Editable text; source id c2_i1_t"/>
          <p:cNvSpPr txBox="1"/>
          <p:nvPr/>
        </p:nvSpPr>
        <p:spPr>
          <a:xfrm>
            <a:off x="4691062" y="1793874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Zn–Y–O stoichiometric coupling</a:t>
            </a:r>
          </a:p>
        </p:txBody>
      </p:sp>
      <p:sp>
        <p:nvSpPr>
          <p:cNvPr id="39" name="c2_i2" descr="Editable shape; source id c2_i2"/>
          <p:cNvSpPr/>
          <p:nvPr/>
        </p:nvSpPr>
        <p:spPr>
          <a:xfrm>
            <a:off x="4635499" y="2262187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2_i2_t" descr="Editable text; source id c2_i2_t"/>
          <p:cNvSpPr txBox="1"/>
          <p:nvPr/>
        </p:nvSpPr>
        <p:spPr>
          <a:xfrm>
            <a:off x="4691062" y="2293937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Competing phases, glass region</a:t>
            </a:r>
          </a:p>
        </p:txBody>
      </p:sp>
      <p:sp>
        <p:nvSpPr>
          <p:cNvPr id="41" name="c3" descr="Editable shape; source id c3"/>
          <p:cNvSpPr/>
          <p:nvPr/>
        </p:nvSpPr>
        <p:spPr>
          <a:xfrm>
            <a:off x="8413749" y="730249"/>
            <a:ext cx="3571874" cy="2079624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3_b" descr="Editable shape; source id c3_b"/>
          <p:cNvSpPr/>
          <p:nvPr/>
        </p:nvSpPr>
        <p:spPr>
          <a:xfrm>
            <a:off x="8413749" y="730249"/>
            <a:ext cx="63499" cy="207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3_g_f_0" descr="Editable line; source id c3_g_f_0"/>
          <p:cNvCxnSpPr/>
          <p:nvPr/>
        </p:nvCxnSpPr>
        <p:spPr>
          <a:xfrm>
            <a:off x="8643937" y="920749"/>
            <a:ext cx="2540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3_g_f_1" descr="Editable line; source id c3_g_f_1"/>
          <p:cNvCxnSpPr/>
          <p:nvPr/>
        </p:nvCxnSpPr>
        <p:spPr>
          <a:xfrm flipH="1">
            <a:off x="8794749" y="920749"/>
            <a:ext cx="103188" cy="1349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3_g_f_2" descr="Editable line; source id c3_g_f_2"/>
          <p:cNvCxnSpPr/>
          <p:nvPr/>
        </p:nvCxnSpPr>
        <p:spPr>
          <a:xfrm>
            <a:off x="8794749" y="1055687"/>
            <a:ext cx="0" cy="952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3_g_f_3" descr="Editable line; source id c3_g_f_3"/>
          <p:cNvCxnSpPr/>
          <p:nvPr/>
        </p:nvCxnSpPr>
        <p:spPr>
          <a:xfrm flipH="1">
            <a:off x="8747124" y="1150937"/>
            <a:ext cx="476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3_g_f_4" descr="Editable line; source id c3_g_f_4"/>
          <p:cNvCxnSpPr/>
          <p:nvPr/>
        </p:nvCxnSpPr>
        <p:spPr>
          <a:xfrm flipV="1">
            <a:off x="8747124" y="1055687"/>
            <a:ext cx="0" cy="952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3_g_f_5" descr="Editable line; source id c3_g_f_5"/>
          <p:cNvCxnSpPr/>
          <p:nvPr/>
        </p:nvCxnSpPr>
        <p:spPr>
          <a:xfrm flipH="1" flipV="1">
            <a:off x="8643937" y="920749"/>
            <a:ext cx="103187" cy="1349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3_t" descr="Editable text; source id c3_t"/>
          <p:cNvSpPr txBox="1"/>
          <p:nvPr/>
        </p:nvSpPr>
        <p:spPr>
          <a:xfrm>
            <a:off x="9032874" y="857249"/>
            <a:ext cx="282574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Screened Precursors</a:t>
            </a:r>
          </a:p>
        </p:txBody>
      </p:sp>
      <p:sp>
        <p:nvSpPr>
          <p:cNvPr id="50" name="c3_i0" descr="Editable shape; source id c3_i0"/>
          <p:cNvSpPr/>
          <p:nvPr/>
        </p:nvSpPr>
        <p:spPr>
          <a:xfrm>
            <a:off x="8604249" y="1269999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3_i0_t" descr="Editable text; source id c3_i0_t"/>
          <p:cNvSpPr txBox="1"/>
          <p:nvPr/>
        </p:nvSpPr>
        <p:spPr>
          <a:xfrm>
            <a:off x="8659812" y="1301749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BaCO3 + Y2O3 + SiO2</a:t>
            </a:r>
          </a:p>
        </p:txBody>
      </p:sp>
      <p:sp>
        <p:nvSpPr>
          <p:cNvPr id="52" name="c3_i1" descr="Editable shape; source id c3_i1"/>
          <p:cNvSpPr/>
          <p:nvPr/>
        </p:nvSpPr>
        <p:spPr>
          <a:xfrm>
            <a:off x="8604249" y="1762124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3_i1_t" descr="Editable text; source id c3_i1_t"/>
          <p:cNvSpPr txBox="1"/>
          <p:nvPr/>
        </p:nvSpPr>
        <p:spPr>
          <a:xfrm>
            <a:off x="8659812" y="1793874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ZnO / MgO / Co3O4</a:t>
            </a:r>
          </a:p>
        </p:txBody>
      </p:sp>
      <p:sp>
        <p:nvSpPr>
          <p:cNvPr id="54" name="c3_i2" descr="Editable shape; source id c3_i2"/>
          <p:cNvSpPr/>
          <p:nvPr/>
        </p:nvSpPr>
        <p:spPr>
          <a:xfrm>
            <a:off x="8604249" y="2262187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3_i2_t" descr="Editable text; source id c3_i2_t"/>
          <p:cNvSpPr txBox="1"/>
          <p:nvPr/>
        </p:nvSpPr>
        <p:spPr>
          <a:xfrm>
            <a:off x="8659812" y="2293937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Model-ranked candidates</a:t>
            </a:r>
          </a:p>
        </p:txBody>
      </p:sp>
      <p:sp>
        <p:nvSpPr>
          <p:cNvPr id="56" name="cav" descr="Editable shape; source id cav"/>
          <p:cNvSpPr/>
          <p:nvPr/>
        </p:nvSpPr>
        <p:spPr>
          <a:xfrm>
            <a:off x="9263062" y="2793999"/>
            <a:ext cx="1960562" cy="309562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873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av_t" descr="Editable text; source id cav_t"/>
          <p:cNvSpPr txBox="1"/>
          <p:nvPr/>
        </p:nvSpPr>
        <p:spPr>
          <a:xfrm>
            <a:off x="9342437" y="2825749"/>
            <a:ext cx="1801812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Ranking ≠ validation</a:t>
            </a:r>
          </a:p>
        </p:txBody>
      </p:sp>
      <p:sp>
        <p:nvSpPr>
          <p:cNvPr id="58" name="l1" descr="Editable shape; source id l1"/>
          <p:cNvSpPr/>
          <p:nvPr/>
        </p:nvSpPr>
        <p:spPr>
          <a:xfrm>
            <a:off x="476249" y="3809999"/>
            <a:ext cx="4921249" cy="1127124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1_b" descr="Editable shape; source id l1_b"/>
          <p:cNvSpPr/>
          <p:nvPr/>
        </p:nvSpPr>
        <p:spPr>
          <a:xfrm>
            <a:off x="476249" y="3809999"/>
            <a:ext cx="63499" cy="1127124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1_g_b" descr="Editable shape; source id l1_g_b"/>
          <p:cNvSpPr/>
          <p:nvPr/>
        </p:nvSpPr>
        <p:spPr>
          <a:xfrm>
            <a:off x="690562" y="4016374"/>
            <a:ext cx="238124" cy="190499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l1_g_d" descr="Editable line; source id l1_g_d"/>
          <p:cNvCxnSpPr/>
          <p:nvPr/>
        </p:nvCxnSpPr>
        <p:spPr>
          <a:xfrm>
            <a:off x="761999" y="4016374"/>
            <a:ext cx="0" cy="1905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l1_g_h0_0" descr="Editable line; source id l1_g_h0_0"/>
          <p:cNvCxnSpPr/>
          <p:nvPr/>
        </p:nvCxnSpPr>
        <p:spPr>
          <a:xfrm flipH="1">
            <a:off x="793749" y="4079874"/>
            <a:ext cx="23813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l1_g_h0_1" descr="Editable line; source id l1_g_h0_1"/>
          <p:cNvCxnSpPr/>
          <p:nvPr/>
        </p:nvCxnSpPr>
        <p:spPr>
          <a:xfrm>
            <a:off x="793749" y="4111624"/>
            <a:ext cx="23813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l1_g_h1_0" descr="Editable line; source id l1_g_h1_0"/>
          <p:cNvCxnSpPr/>
          <p:nvPr/>
        </p:nvCxnSpPr>
        <p:spPr>
          <a:xfrm flipH="1">
            <a:off x="833437" y="4079874"/>
            <a:ext cx="23812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l1_g_h1_1" descr="Editable line; source id l1_g_h1_1"/>
          <p:cNvCxnSpPr/>
          <p:nvPr/>
        </p:nvCxnSpPr>
        <p:spPr>
          <a:xfrm>
            <a:off x="833437" y="4111624"/>
            <a:ext cx="23812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1_g_h2_0" descr="Editable line; source id l1_g_h2_0"/>
          <p:cNvCxnSpPr/>
          <p:nvPr/>
        </p:nvCxnSpPr>
        <p:spPr>
          <a:xfrm flipH="1">
            <a:off x="873124" y="4079874"/>
            <a:ext cx="15875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l1_g_h2_1" descr="Editable line; source id l1_g_h2_1"/>
          <p:cNvCxnSpPr/>
          <p:nvPr/>
        </p:nvCxnSpPr>
        <p:spPr>
          <a:xfrm>
            <a:off x="873124" y="4111624"/>
            <a:ext cx="15875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l1_t" descr="Editable text; source id l1_t"/>
          <p:cNvSpPr txBox="1"/>
          <p:nvPr/>
        </p:nvSpPr>
        <p:spPr>
          <a:xfrm>
            <a:off x="1079499" y="3921124"/>
            <a:ext cx="2063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Solid-State Route</a:t>
            </a:r>
          </a:p>
        </p:txBody>
      </p:sp>
      <p:sp>
        <p:nvSpPr>
          <p:cNvPr id="69" name="l1r_t0" descr="Editable shape; source id l1r_t0"/>
          <p:cNvSpPr/>
          <p:nvPr/>
        </p:nvSpPr>
        <p:spPr>
          <a:xfrm>
            <a:off x="650874" y="4381499"/>
            <a:ext cx="769937" cy="396874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1r_t0_t" descr="Editable text; source id l1r_t0_t"/>
          <p:cNvSpPr txBox="1"/>
          <p:nvPr/>
        </p:nvSpPr>
        <p:spPr>
          <a:xfrm>
            <a:off x="706437" y="4413249"/>
            <a:ext cx="6588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Calcine</a:t>
            </a:r>
          </a:p>
        </p:txBody>
      </p:sp>
      <p:sp>
        <p:nvSpPr>
          <p:cNvPr id="71" name="l1r_t1" descr="Editable shape; source id l1r_t1"/>
          <p:cNvSpPr/>
          <p:nvPr/>
        </p:nvSpPr>
        <p:spPr>
          <a:xfrm>
            <a:off x="1579562" y="4381499"/>
            <a:ext cx="769937" cy="396874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1r_t1_t" descr="Editable text; source id l1r_t1_t"/>
          <p:cNvSpPr txBox="1"/>
          <p:nvPr/>
        </p:nvSpPr>
        <p:spPr>
          <a:xfrm>
            <a:off x="1635124" y="4413249"/>
            <a:ext cx="6588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Regrind</a:t>
            </a:r>
          </a:p>
        </p:txBody>
      </p:sp>
      <p:sp>
        <p:nvSpPr>
          <p:cNvPr id="73" name="l1r_a1" descr="Editable line; source id l1r_a1"/>
          <p:cNvSpPr/>
          <p:nvPr/>
        </p:nvSpPr>
        <p:spPr>
          <a:xfrm>
            <a:off x="1460500" y="4560292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675"/>
                </a:moveTo>
                <a:lnTo>
                  <a:pt x="4500" y="16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275"/>
                </a:lnTo>
                <a:lnTo>
                  <a:pt x="0" y="3275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1r_t2" descr="Editable shape; source id l1r_t2"/>
          <p:cNvSpPr/>
          <p:nvPr/>
        </p:nvSpPr>
        <p:spPr>
          <a:xfrm>
            <a:off x="2500312" y="4381499"/>
            <a:ext cx="769937" cy="396874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1r_t2_t" descr="Editable text; source id l1r_t2_t"/>
          <p:cNvSpPr txBox="1"/>
          <p:nvPr/>
        </p:nvSpPr>
        <p:spPr>
          <a:xfrm>
            <a:off x="2555874" y="4413249"/>
            <a:ext cx="6588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Anneal</a:t>
            </a:r>
          </a:p>
        </p:txBody>
      </p:sp>
      <p:sp>
        <p:nvSpPr>
          <p:cNvPr id="76" name="l1r_a2" descr="Editable line; source id l1r_a2"/>
          <p:cNvSpPr/>
          <p:nvPr/>
        </p:nvSpPr>
        <p:spPr>
          <a:xfrm>
            <a:off x="2381250" y="4560292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675"/>
                </a:moveTo>
                <a:lnTo>
                  <a:pt x="4500" y="16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275"/>
                </a:lnTo>
                <a:lnTo>
                  <a:pt x="0" y="3275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1_o" descr="Editable shape; source id l1_o"/>
          <p:cNvSpPr/>
          <p:nvPr/>
        </p:nvSpPr>
        <p:spPr>
          <a:xfrm>
            <a:off x="3365499" y="4381499"/>
            <a:ext cx="1857374" cy="396874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1_o_t" descr="Editable text; source id l1_o_t"/>
          <p:cNvSpPr txBox="1"/>
          <p:nvPr/>
        </p:nvSpPr>
        <p:spPr>
          <a:xfrm>
            <a:off x="3421062" y="4413249"/>
            <a:ext cx="17462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Bulk phase purity</a:t>
            </a:r>
          </a:p>
        </p:txBody>
      </p:sp>
      <p:sp>
        <p:nvSpPr>
          <p:cNvPr id="79" name="l2" descr="Editable shape; source id l2"/>
          <p:cNvSpPr/>
          <p:nvPr/>
        </p:nvSpPr>
        <p:spPr>
          <a:xfrm>
            <a:off x="6508749" y="3809999"/>
            <a:ext cx="4921249" cy="1127124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2_b" descr="Editable shape; source id l2_b"/>
          <p:cNvSpPr/>
          <p:nvPr/>
        </p:nvSpPr>
        <p:spPr>
          <a:xfrm>
            <a:off x="6508749" y="3809999"/>
            <a:ext cx="63499" cy="1127124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l2_g_n_0" descr="Editable line; source id l2_g_n_0"/>
          <p:cNvCxnSpPr/>
          <p:nvPr/>
        </p:nvCxnSpPr>
        <p:spPr>
          <a:xfrm>
            <a:off x="6810374" y="3968749"/>
            <a:ext cx="0" cy="873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2_g_n_1" descr="Editable line; source id l2_g_n_1"/>
          <p:cNvCxnSpPr/>
          <p:nvPr/>
        </p:nvCxnSpPr>
        <p:spPr>
          <a:xfrm flipH="1">
            <a:off x="6730999" y="4056062"/>
            <a:ext cx="79375" cy="158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l2_g_n_2" descr="Editable line; source id l2_g_n_2"/>
          <p:cNvCxnSpPr/>
          <p:nvPr/>
        </p:nvCxnSpPr>
        <p:spPr>
          <a:xfrm>
            <a:off x="6730999" y="4214812"/>
            <a:ext cx="222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l2_g_n_3" descr="Editable line; source id l2_g_n_3"/>
          <p:cNvCxnSpPr/>
          <p:nvPr/>
        </p:nvCxnSpPr>
        <p:spPr>
          <a:xfrm flipH="1" flipV="1">
            <a:off x="6873874" y="4056062"/>
            <a:ext cx="79375" cy="158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l2_g_n_4" descr="Editable line; source id l2_g_n_4"/>
          <p:cNvCxnSpPr/>
          <p:nvPr/>
        </p:nvCxnSpPr>
        <p:spPr>
          <a:xfrm flipV="1">
            <a:off x="6873874" y="3968749"/>
            <a:ext cx="0" cy="873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l2_g_m" descr="Editable line; source id l2_g_m"/>
          <p:cNvCxnSpPr/>
          <p:nvPr/>
        </p:nvCxnSpPr>
        <p:spPr>
          <a:xfrm>
            <a:off x="6794499" y="3968749"/>
            <a:ext cx="95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l2_g_d1" descr="Editable shape; source id l2_g_d1"/>
          <p:cNvSpPr/>
          <p:nvPr/>
        </p:nvSpPr>
        <p:spPr>
          <a:xfrm>
            <a:off x="6802437" y="4143374"/>
            <a:ext cx="23812" cy="23812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l2_g_d2" descr="Editable shape; source id l2_g_d2"/>
          <p:cNvSpPr/>
          <p:nvPr/>
        </p:nvSpPr>
        <p:spPr>
          <a:xfrm>
            <a:off x="6857999" y="4167187"/>
            <a:ext cx="15874" cy="15874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l2_t" descr="Editable text; source id l2_t"/>
          <p:cNvSpPr txBox="1"/>
          <p:nvPr/>
        </p:nvSpPr>
        <p:spPr>
          <a:xfrm>
            <a:off x="7111999" y="3921124"/>
            <a:ext cx="2063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Solution Growth</a:t>
            </a:r>
          </a:p>
        </p:txBody>
      </p:sp>
      <p:sp>
        <p:nvSpPr>
          <p:cNvPr id="90" name="l2r_t0" descr="Editable shape; source id l2r_t0"/>
          <p:cNvSpPr/>
          <p:nvPr/>
        </p:nvSpPr>
        <p:spPr>
          <a:xfrm>
            <a:off x="6683374" y="4381499"/>
            <a:ext cx="769937" cy="396874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2r_t0_t" descr="Editable text; source id l2r_t0_t"/>
          <p:cNvSpPr txBox="1"/>
          <p:nvPr/>
        </p:nvSpPr>
        <p:spPr>
          <a:xfrm>
            <a:off x="6738937" y="4413249"/>
            <a:ext cx="6588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Flux</a:t>
            </a:r>
          </a:p>
        </p:txBody>
      </p:sp>
      <p:sp>
        <p:nvSpPr>
          <p:cNvPr id="92" name="l2r_t1" descr="Editable shape; source id l2r_t1"/>
          <p:cNvSpPr/>
          <p:nvPr/>
        </p:nvSpPr>
        <p:spPr>
          <a:xfrm>
            <a:off x="7612062" y="4381499"/>
            <a:ext cx="769937" cy="396874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l2r_t1_t" descr="Editable text; source id l2r_t1_t"/>
          <p:cNvSpPr txBox="1"/>
          <p:nvPr/>
        </p:nvSpPr>
        <p:spPr>
          <a:xfrm>
            <a:off x="7667624" y="4413249"/>
            <a:ext cx="6588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Dwell</a:t>
            </a:r>
          </a:p>
        </p:txBody>
      </p:sp>
      <p:sp>
        <p:nvSpPr>
          <p:cNvPr id="94" name="l2r_a1" descr="Editable line; source id l2r_a1"/>
          <p:cNvSpPr/>
          <p:nvPr/>
        </p:nvSpPr>
        <p:spPr>
          <a:xfrm>
            <a:off x="7493000" y="4560292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675"/>
                </a:moveTo>
                <a:lnTo>
                  <a:pt x="4500" y="16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275"/>
                </a:lnTo>
                <a:lnTo>
                  <a:pt x="0" y="3275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l2r_t2" descr="Editable shape; source id l2r_t2"/>
          <p:cNvSpPr/>
          <p:nvPr/>
        </p:nvSpPr>
        <p:spPr>
          <a:xfrm>
            <a:off x="8532812" y="4381499"/>
            <a:ext cx="769937" cy="396874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2r_t2_t" descr="Editable text; source id l2r_t2_t"/>
          <p:cNvSpPr txBox="1"/>
          <p:nvPr/>
        </p:nvSpPr>
        <p:spPr>
          <a:xfrm>
            <a:off x="8588374" y="4413249"/>
            <a:ext cx="6588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defRPr sz="1111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11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Slow </a:t>
            </a:r>
          </a:p>
          <a:p>
            <a:pPr algn="ctr" fontAlgn="base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defRPr sz="1111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11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cool</a:t>
            </a:r>
          </a:p>
        </p:txBody>
      </p:sp>
      <p:sp>
        <p:nvSpPr>
          <p:cNvPr id="97" name="l2r_a2" descr="Editable line; source id l2r_a2"/>
          <p:cNvSpPr/>
          <p:nvPr/>
        </p:nvSpPr>
        <p:spPr>
          <a:xfrm>
            <a:off x="8413750" y="4560292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675"/>
                </a:moveTo>
                <a:lnTo>
                  <a:pt x="4500" y="16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275"/>
                </a:lnTo>
                <a:lnTo>
                  <a:pt x="0" y="3275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l2_o" descr="Editable shape; source id l2_o"/>
          <p:cNvSpPr/>
          <p:nvPr/>
        </p:nvSpPr>
        <p:spPr>
          <a:xfrm>
            <a:off x="9397999" y="4381499"/>
            <a:ext cx="1857374" cy="396874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l2_o_t" descr="Editable text; source id l2_o_t"/>
          <p:cNvSpPr txBox="1"/>
          <p:nvPr/>
        </p:nvSpPr>
        <p:spPr>
          <a:xfrm>
            <a:off x="9453562" y="4413249"/>
            <a:ext cx="17462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defRPr sz="1111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11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Single-crystal </a:t>
            </a:r>
          </a:p>
          <a:p>
            <a:pPr algn="ctr" fontAlgn="base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defRPr sz="1111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11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structure</a:t>
            </a:r>
          </a:p>
        </p:txBody>
      </p:sp>
      <p:sp>
        <p:nvSpPr>
          <p:cNvPr id="100" name="c5" descr="Editable shape; source id c5"/>
          <p:cNvSpPr/>
          <p:nvPr/>
        </p:nvSpPr>
        <p:spPr>
          <a:xfrm>
            <a:off x="3016249" y="5603874"/>
            <a:ext cx="6191249" cy="1031874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5_b" descr="Editable shape; source id c5_b"/>
          <p:cNvSpPr/>
          <p:nvPr/>
        </p:nvSpPr>
        <p:spPr>
          <a:xfrm>
            <a:off x="3016249" y="5603874"/>
            <a:ext cx="63499" cy="103187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5_g_a_0" descr="Editable line; source id c5_g_a_0"/>
          <p:cNvCxnSpPr/>
          <p:nvPr/>
        </p:nvCxnSpPr>
        <p:spPr>
          <a:xfrm>
            <a:off x="3238499" y="5992812"/>
            <a:ext cx="476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5_g_a_1" descr="Editable line; source id c5_g_a_1"/>
          <p:cNvCxnSpPr/>
          <p:nvPr/>
        </p:nvCxnSpPr>
        <p:spPr>
          <a:xfrm flipV="1">
            <a:off x="3286124" y="5841999"/>
            <a:ext cx="23813" cy="1508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5_g_a_2" descr="Editable line; source id c5_g_a_2"/>
          <p:cNvCxnSpPr/>
          <p:nvPr/>
        </p:nvCxnSpPr>
        <p:spPr>
          <a:xfrm>
            <a:off x="3309937" y="5841999"/>
            <a:ext cx="15875" cy="1508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5_g_a_3" descr="Editable line; source id c5_g_a_3"/>
          <p:cNvCxnSpPr/>
          <p:nvPr/>
        </p:nvCxnSpPr>
        <p:spPr>
          <a:xfrm>
            <a:off x="3325812" y="5992812"/>
            <a:ext cx="39687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5_g_a_4" descr="Editable line; source id c5_g_a_4"/>
          <p:cNvCxnSpPr/>
          <p:nvPr/>
        </p:nvCxnSpPr>
        <p:spPr>
          <a:xfrm flipV="1">
            <a:off x="3365499" y="5889624"/>
            <a:ext cx="15875" cy="10318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5_g_a_5" descr="Editable line; source id c5_g_a_5"/>
          <p:cNvCxnSpPr/>
          <p:nvPr/>
        </p:nvCxnSpPr>
        <p:spPr>
          <a:xfrm>
            <a:off x="3381374" y="5889624"/>
            <a:ext cx="23813" cy="10318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5_g_a_6" descr="Editable line; source id c5_g_a_6"/>
          <p:cNvCxnSpPr/>
          <p:nvPr/>
        </p:nvCxnSpPr>
        <p:spPr>
          <a:xfrm>
            <a:off x="3405187" y="5992812"/>
            <a:ext cx="39687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5_g_a_7" descr="Editable line; source id c5_g_a_7"/>
          <p:cNvCxnSpPr/>
          <p:nvPr/>
        </p:nvCxnSpPr>
        <p:spPr>
          <a:xfrm flipV="1">
            <a:off x="3444874" y="5929312"/>
            <a:ext cx="7938" cy="635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5_g_a_8" descr="Editable line; source id c5_g_a_8"/>
          <p:cNvCxnSpPr/>
          <p:nvPr/>
        </p:nvCxnSpPr>
        <p:spPr>
          <a:xfrm>
            <a:off x="3452812" y="5929312"/>
            <a:ext cx="15875" cy="635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5_g_a_9" descr="Editable line; source id c5_g_a_9"/>
          <p:cNvCxnSpPr/>
          <p:nvPr/>
        </p:nvCxnSpPr>
        <p:spPr>
          <a:xfrm>
            <a:off x="3468687" y="5992812"/>
            <a:ext cx="317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5_g_k_0" descr="Editable line; source id c5_g_k_0"/>
          <p:cNvCxnSpPr/>
          <p:nvPr/>
        </p:nvCxnSpPr>
        <p:spPr>
          <a:xfrm>
            <a:off x="3413124" y="5810249"/>
            <a:ext cx="23813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5_g_k_1" descr="Editable line; source id c5_g_k_1"/>
          <p:cNvCxnSpPr/>
          <p:nvPr/>
        </p:nvCxnSpPr>
        <p:spPr>
          <a:xfrm flipV="1">
            <a:off x="3436937" y="5762624"/>
            <a:ext cx="55562" cy="79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c5_t" descr="Editable text; source id c5_t"/>
          <p:cNvSpPr txBox="1"/>
          <p:nvPr/>
        </p:nvSpPr>
        <p:spPr>
          <a:xfrm>
            <a:off x="3619499" y="5714999"/>
            <a:ext cx="190499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Characterization</a:t>
            </a:r>
          </a:p>
        </p:txBody>
      </p:sp>
      <p:sp>
        <p:nvSpPr>
          <p:cNvPr id="115" name="c5r_t0" descr="Editable shape; source id c5r_t0"/>
          <p:cNvSpPr/>
          <p:nvPr/>
        </p:nvSpPr>
        <p:spPr>
          <a:xfrm>
            <a:off x="3206749" y="6159499"/>
            <a:ext cx="1389062" cy="349249"/>
          </a:xfrm>
          <a:prstGeom prst="roundRect">
            <a:avLst>
              <a:gd name="adj" fmla="val 136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c5r_t0_t" descr="Editable text; source id c5r_t0_t"/>
          <p:cNvSpPr txBox="1"/>
          <p:nvPr/>
        </p:nvSpPr>
        <p:spPr>
          <a:xfrm>
            <a:off x="3262312" y="6191249"/>
            <a:ext cx="127793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sp>
        <p:nvSpPr>
          <p:cNvPr id="117" name="c5r_t1" descr="Editable shape; source id c5r_t1"/>
          <p:cNvSpPr/>
          <p:nvPr/>
        </p:nvSpPr>
        <p:spPr>
          <a:xfrm>
            <a:off x="4691062" y="6159499"/>
            <a:ext cx="1389062" cy="349249"/>
          </a:xfrm>
          <a:prstGeom prst="roundRect">
            <a:avLst>
              <a:gd name="adj" fmla="val 136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c5r_t1_t" descr="Editable text; source id c5r_t1_t"/>
          <p:cNvSpPr txBox="1"/>
          <p:nvPr/>
        </p:nvSpPr>
        <p:spPr>
          <a:xfrm>
            <a:off x="4746624" y="6191249"/>
            <a:ext cx="127793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SCXRD</a:t>
            </a:r>
          </a:p>
        </p:txBody>
      </p:sp>
      <p:sp>
        <p:nvSpPr>
          <p:cNvPr id="119" name="c5r_t2" descr="Editable shape; source id c5r_t2"/>
          <p:cNvSpPr/>
          <p:nvPr/>
        </p:nvSpPr>
        <p:spPr>
          <a:xfrm>
            <a:off x="6175374" y="6159499"/>
            <a:ext cx="1389062" cy="349249"/>
          </a:xfrm>
          <a:prstGeom prst="roundRect">
            <a:avLst>
              <a:gd name="adj" fmla="val 136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c5r_t2_t" descr="Editable text; source id c5r_t2_t"/>
          <p:cNvSpPr txBox="1"/>
          <p:nvPr/>
        </p:nvSpPr>
        <p:spPr>
          <a:xfrm>
            <a:off x="6230937" y="6191249"/>
            <a:ext cx="127793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EDS / EPMA / ICP</a:t>
            </a:r>
          </a:p>
        </p:txBody>
      </p:sp>
      <p:sp>
        <p:nvSpPr>
          <p:cNvPr id="121" name="c5r_t3" descr="Editable shape; source id c5r_t3"/>
          <p:cNvSpPr/>
          <p:nvPr/>
        </p:nvSpPr>
        <p:spPr>
          <a:xfrm>
            <a:off x="7659687" y="6159499"/>
            <a:ext cx="1389062" cy="349249"/>
          </a:xfrm>
          <a:prstGeom prst="roundRect">
            <a:avLst>
              <a:gd name="adj" fmla="val 136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c5r_t3_t" descr="Editable text; source id c5r_t3_t"/>
          <p:cNvSpPr txBox="1"/>
          <p:nvPr/>
        </p:nvSpPr>
        <p:spPr>
          <a:xfrm>
            <a:off x="7715249" y="6191249"/>
            <a:ext cx="127793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56"/>
              </a:lnSpc>
              <a:spcBef>
                <a:spcPts val="0"/>
              </a:spcBef>
              <a:spcAft>
                <a:spcPts val="0"/>
              </a:spcAft>
              <a:defRPr sz="97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7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HT vs cooled phases</a:t>
            </a:r>
          </a:p>
        </p:txBody>
      </p:sp>
      <p:sp>
        <p:nvSpPr>
          <p:cNvPr id="123" name="q1" descr="Editable shape; source id q1"/>
          <p:cNvSpPr/>
          <p:nvPr/>
        </p:nvSpPr>
        <p:spPr>
          <a:xfrm>
            <a:off x="476249" y="7429499"/>
            <a:ext cx="3571874" cy="52387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112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q1_b" descr="Editable shape; source id q1_b"/>
          <p:cNvSpPr/>
          <p:nvPr/>
        </p:nvSpPr>
        <p:spPr>
          <a:xfrm>
            <a:off x="476249" y="7429499"/>
            <a:ext cx="63499" cy="523874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q1_t" descr="Editable text; source id q1_t"/>
          <p:cNvSpPr txBox="1"/>
          <p:nvPr/>
        </p:nvSpPr>
        <p:spPr>
          <a:xfrm>
            <a:off x="634999" y="7461249"/>
            <a:ext cx="3254374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2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2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Does Zn enter and couple with oxygen </a:t>
            </a:r>
          </a:p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2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2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stoichiometry?</a:t>
            </a:r>
          </a:p>
        </p:txBody>
      </p:sp>
      <p:sp>
        <p:nvSpPr>
          <p:cNvPr id="126" name="q2" descr="Editable shape; source id q2"/>
          <p:cNvSpPr/>
          <p:nvPr/>
        </p:nvSpPr>
        <p:spPr>
          <a:xfrm>
            <a:off x="4444999" y="7429499"/>
            <a:ext cx="3571874" cy="52387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112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q2_b" descr="Editable shape; source id q2_b"/>
          <p:cNvSpPr/>
          <p:nvPr/>
        </p:nvSpPr>
        <p:spPr>
          <a:xfrm>
            <a:off x="4444999" y="7429499"/>
            <a:ext cx="63499" cy="523874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q2_t" descr="Editable text; source id q2_t"/>
          <p:cNvSpPr txBox="1"/>
          <p:nvPr/>
        </p:nvSpPr>
        <p:spPr>
          <a:xfrm>
            <a:off x="4603749" y="7461249"/>
            <a:ext cx="3254374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312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Stable phase field, or liquid </a:t>
            </a:r>
          </a:p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312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selectivity?</a:t>
            </a:r>
          </a:p>
        </p:txBody>
      </p:sp>
      <p:sp>
        <p:nvSpPr>
          <p:cNvPr id="129" name="q3" descr="Editable shape; source id q3"/>
          <p:cNvSpPr/>
          <p:nvPr/>
        </p:nvSpPr>
        <p:spPr>
          <a:xfrm>
            <a:off x="8413749" y="7429499"/>
            <a:ext cx="3571874" cy="52387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112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q3_b" descr="Editable shape; source id q3_b"/>
          <p:cNvSpPr/>
          <p:nvPr/>
        </p:nvSpPr>
        <p:spPr>
          <a:xfrm>
            <a:off x="8413749" y="7429499"/>
            <a:ext cx="63499" cy="523874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q3_t" descr="Editable text; source id q3_t"/>
          <p:cNvSpPr txBox="1"/>
          <p:nvPr/>
        </p:nvSpPr>
        <p:spPr>
          <a:xfrm>
            <a:off x="8572499" y="7461249"/>
            <a:ext cx="3254374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312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How do actual composition and </a:t>
            </a:r>
          </a:p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312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structural signals correspond?</a:t>
            </a:r>
          </a:p>
        </p:txBody>
      </p:sp>
      <p:sp>
        <p:nvSpPr>
          <p:cNvPr id="132" name="e1_0" descr="Editable line; source id e1_0"/>
          <p:cNvSpPr/>
          <p:nvPr/>
        </p:nvSpPr>
        <p:spPr>
          <a:xfrm>
            <a:off x="4079875" y="1730375"/>
            <a:ext cx="333375" cy="79375"/>
          </a:xfrm>
          <a:custGeom>
            <a:avLst/>
            <a:gdLst/>
            <a:ahLst/>
            <a:cxnLst/>
            <a:rect l="l" t="t" r="r" b="b"/>
            <a:pathLst>
              <a:path w="42000" h="10000">
                <a:moveTo>
                  <a:pt x="0" y="4100"/>
                </a:moveTo>
                <a:lnTo>
                  <a:pt x="30000" y="4100"/>
                </a:lnTo>
                <a:lnTo>
                  <a:pt x="30000" y="0"/>
                </a:lnTo>
                <a:lnTo>
                  <a:pt x="42000" y="5000"/>
                </a:lnTo>
                <a:lnTo>
                  <a:pt x="30000" y="10000"/>
                </a:lnTo>
                <a:lnTo>
                  <a:pt x="30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2_0" descr="Editable line; source id e2_0"/>
          <p:cNvSpPr/>
          <p:nvPr/>
        </p:nvSpPr>
        <p:spPr>
          <a:xfrm>
            <a:off x="8048625" y="1730375"/>
            <a:ext cx="333375" cy="79375"/>
          </a:xfrm>
          <a:custGeom>
            <a:avLst/>
            <a:gdLst/>
            <a:ahLst/>
            <a:cxnLst/>
            <a:rect l="l" t="t" r="r" b="b"/>
            <a:pathLst>
              <a:path w="42000" h="10000">
                <a:moveTo>
                  <a:pt x="0" y="4100"/>
                </a:moveTo>
                <a:lnTo>
                  <a:pt x="30000" y="4100"/>
                </a:lnTo>
                <a:lnTo>
                  <a:pt x="30000" y="0"/>
                </a:lnTo>
                <a:lnTo>
                  <a:pt x="42000" y="5000"/>
                </a:lnTo>
                <a:lnTo>
                  <a:pt x="30000" y="10000"/>
                </a:lnTo>
                <a:lnTo>
                  <a:pt x="30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fk0_0" descr="Editable line; source id fk0_0"/>
          <p:cNvCxnSpPr/>
          <p:nvPr/>
        </p:nvCxnSpPr>
        <p:spPr>
          <a:xfrm>
            <a:off x="10199687" y="2841624"/>
            <a:ext cx="0" cy="682625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fkh_0" descr="Editable line; source id fkh_0"/>
          <p:cNvCxnSpPr/>
          <p:nvPr/>
        </p:nvCxnSpPr>
        <p:spPr>
          <a:xfrm>
            <a:off x="2936874" y="3524249"/>
            <a:ext cx="7262813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fk1_0" descr="Editable line; source id fk1_0"/>
          <p:cNvSpPr/>
          <p:nvPr/>
        </p:nvSpPr>
        <p:spPr>
          <a:xfrm>
            <a:off x="2897187" y="3524250"/>
            <a:ext cx="79375" cy="254000"/>
          </a:xfrm>
          <a:custGeom>
            <a:avLst/>
            <a:gdLst/>
            <a:ahLst/>
            <a:cxnLst/>
            <a:rect l="l" t="t" r="r" b="b"/>
            <a:pathLst>
              <a:path w="10000" h="32000">
                <a:moveTo>
                  <a:pt x="5900" y="0"/>
                </a:moveTo>
                <a:lnTo>
                  <a:pt x="5900" y="20000"/>
                </a:lnTo>
                <a:lnTo>
                  <a:pt x="10000" y="20000"/>
                </a:lnTo>
                <a:lnTo>
                  <a:pt x="5000" y="32000"/>
                </a:lnTo>
                <a:lnTo>
                  <a:pt x="0" y="20000"/>
                </a:lnTo>
                <a:lnTo>
                  <a:pt x="4100" y="20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k2_0" descr="Editable line; source id fk2_0"/>
          <p:cNvSpPr/>
          <p:nvPr/>
        </p:nvSpPr>
        <p:spPr>
          <a:xfrm>
            <a:off x="8929687" y="3524250"/>
            <a:ext cx="79375" cy="254000"/>
          </a:xfrm>
          <a:custGeom>
            <a:avLst/>
            <a:gdLst/>
            <a:ahLst/>
            <a:cxnLst/>
            <a:rect l="l" t="t" r="r" b="b"/>
            <a:pathLst>
              <a:path w="10000" h="32000">
                <a:moveTo>
                  <a:pt x="5900" y="0"/>
                </a:moveTo>
                <a:lnTo>
                  <a:pt x="5900" y="20000"/>
                </a:lnTo>
                <a:lnTo>
                  <a:pt x="10000" y="20000"/>
                </a:lnTo>
                <a:lnTo>
                  <a:pt x="5000" y="32000"/>
                </a:lnTo>
                <a:lnTo>
                  <a:pt x="0" y="20000"/>
                </a:lnTo>
                <a:lnTo>
                  <a:pt x="4100" y="20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mg1_0" descr="Editable line; source id mg1_0"/>
          <p:cNvCxnSpPr/>
          <p:nvPr/>
        </p:nvCxnSpPr>
        <p:spPr>
          <a:xfrm>
            <a:off x="2936874" y="4968874"/>
            <a:ext cx="0" cy="28575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mg2_0" descr="Editable line; source id mg2_0"/>
          <p:cNvCxnSpPr/>
          <p:nvPr/>
        </p:nvCxnSpPr>
        <p:spPr>
          <a:xfrm>
            <a:off x="8969374" y="4968874"/>
            <a:ext cx="0" cy="28575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mgh_0" descr="Editable line; source id mgh_0"/>
          <p:cNvCxnSpPr/>
          <p:nvPr/>
        </p:nvCxnSpPr>
        <p:spPr>
          <a:xfrm>
            <a:off x="2936874" y="5254624"/>
            <a:ext cx="6032500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mg3_0" descr="Editable line; source id mg3_0"/>
          <p:cNvSpPr/>
          <p:nvPr/>
        </p:nvSpPr>
        <p:spPr>
          <a:xfrm>
            <a:off x="6072187" y="5254625"/>
            <a:ext cx="79375" cy="317500"/>
          </a:xfrm>
          <a:custGeom>
            <a:avLst/>
            <a:gdLst/>
            <a:ahLst/>
            <a:cxnLst/>
            <a:rect l="l" t="t" r="r" b="b"/>
            <a:pathLst>
              <a:path w="10000" h="40000">
                <a:moveTo>
                  <a:pt x="5900" y="0"/>
                </a:moveTo>
                <a:lnTo>
                  <a:pt x="5900" y="28000"/>
                </a:lnTo>
                <a:lnTo>
                  <a:pt x="10000" y="28000"/>
                </a:lnTo>
                <a:lnTo>
                  <a:pt x="5000" y="40000"/>
                </a:lnTo>
                <a:lnTo>
                  <a:pt x="0" y="28000"/>
                </a:lnTo>
                <a:lnTo>
                  <a:pt x="4100" y="28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fb_0" descr="Editable line; source id fb_0"/>
          <p:cNvCxnSpPr/>
          <p:nvPr/>
        </p:nvCxnSpPr>
        <p:spPr>
          <a:xfrm>
            <a:off x="9239249" y="6119812"/>
            <a:ext cx="2468563" cy="0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fb_1" descr="Editable line; source id fb_1"/>
          <p:cNvCxnSpPr/>
          <p:nvPr/>
        </p:nvCxnSpPr>
        <p:spPr>
          <a:xfrm flipV="1">
            <a:off x="11707812" y="3198812"/>
            <a:ext cx="0" cy="2921000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fb_2" descr="Editable line; source id fb_2"/>
          <p:cNvCxnSpPr/>
          <p:nvPr/>
        </p:nvCxnSpPr>
        <p:spPr>
          <a:xfrm flipH="1">
            <a:off x="6230937" y="3198812"/>
            <a:ext cx="5476875" cy="0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fb_3" descr="Editable line; source id fb_3"/>
          <p:cNvCxnSpPr/>
          <p:nvPr/>
        </p:nvCxnSpPr>
        <p:spPr>
          <a:xfrm flipV="1">
            <a:off x="6230937" y="2841624"/>
            <a:ext cx="0" cy="357188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fb_p" descr="Editable shape; source id fb_p"/>
          <p:cNvSpPr/>
          <p:nvPr/>
        </p:nvSpPr>
        <p:spPr>
          <a:xfrm>
            <a:off x="5659437" y="3040062"/>
            <a:ext cx="2659062" cy="3174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b_p_t" descr="Editable text; source id fb_p_t"/>
          <p:cNvSpPr txBox="1"/>
          <p:nvPr/>
        </p:nvSpPr>
        <p:spPr>
          <a:xfrm>
            <a:off x="5738812" y="3071812"/>
            <a:ext cx="250031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6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Update composition and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